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42"/>
  </p:notesMasterIdLst>
  <p:sldIdLst>
    <p:sldId id="331" r:id="rId2"/>
    <p:sldId id="288" r:id="rId3"/>
    <p:sldId id="333" r:id="rId4"/>
    <p:sldId id="290" r:id="rId5"/>
    <p:sldId id="334" r:id="rId6"/>
    <p:sldId id="292" r:id="rId7"/>
    <p:sldId id="335" r:id="rId8"/>
    <p:sldId id="301" r:id="rId9"/>
    <p:sldId id="302" r:id="rId10"/>
    <p:sldId id="336" r:id="rId11"/>
    <p:sldId id="278" r:id="rId12"/>
    <p:sldId id="277" r:id="rId13"/>
    <p:sldId id="451" r:id="rId14"/>
    <p:sldId id="452" r:id="rId15"/>
    <p:sldId id="455" r:id="rId16"/>
    <p:sldId id="457" r:id="rId17"/>
    <p:sldId id="453" r:id="rId18"/>
    <p:sldId id="456" r:id="rId19"/>
    <p:sldId id="454" r:id="rId20"/>
    <p:sldId id="337" r:id="rId21"/>
    <p:sldId id="338" r:id="rId22"/>
    <p:sldId id="339" r:id="rId23"/>
    <p:sldId id="446" r:id="rId24"/>
    <p:sldId id="340" r:id="rId25"/>
    <p:sldId id="442" r:id="rId26"/>
    <p:sldId id="341" r:id="rId27"/>
    <p:sldId id="449" r:id="rId28"/>
    <p:sldId id="450" r:id="rId29"/>
    <p:sldId id="342" r:id="rId30"/>
    <p:sldId id="441" r:id="rId31"/>
    <p:sldId id="432" r:id="rId32"/>
    <p:sldId id="384" r:id="rId33"/>
    <p:sldId id="440" r:id="rId34"/>
    <p:sldId id="439" r:id="rId35"/>
    <p:sldId id="365" r:id="rId36"/>
    <p:sldId id="448" r:id="rId37"/>
    <p:sldId id="443" r:id="rId38"/>
    <p:sldId id="445" r:id="rId39"/>
    <p:sldId id="444" r:id="rId40"/>
    <p:sldId id="447" r:id="rId41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DF9540-D053-4469-86F7-3BAF6D34A3CD}" v="4" dt="2025-06-03T15:56:12.890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598" autoAdjust="0"/>
  </p:normalViewPr>
  <p:slideViewPr>
    <p:cSldViewPr snapToGrid="0" snapToObjects="1">
      <p:cViewPr>
        <p:scale>
          <a:sx n="110" d="100"/>
          <a:sy n="110" d="100"/>
        </p:scale>
        <p:origin x="720" y="-126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ah Hussein" userId="ec7de749-96cb-4ff3-b2ac-f6f7daf8d3df" providerId="ADAL" clId="{80DF9540-D053-4469-86F7-3BAF6D34A3CD}"/>
    <pc:docChg chg="modSld">
      <pc:chgData name="Farah Hussein" userId="ec7de749-96cb-4ff3-b2ac-f6f7daf8d3df" providerId="ADAL" clId="{80DF9540-D053-4469-86F7-3BAF6D34A3CD}" dt="2025-06-03T15:58:11.482" v="122" actId="20577"/>
      <pc:docMkLst>
        <pc:docMk/>
      </pc:docMkLst>
      <pc:sldChg chg="modSp mod">
        <pc:chgData name="Farah Hussein" userId="ec7de749-96cb-4ff3-b2ac-f6f7daf8d3df" providerId="ADAL" clId="{80DF9540-D053-4469-86F7-3BAF6D34A3CD}" dt="2025-06-03T14:30:46.506" v="1" actId="403"/>
        <pc:sldMkLst>
          <pc:docMk/>
          <pc:sldMk cId="0" sldId="331"/>
        </pc:sldMkLst>
        <pc:spChg chg="mod">
          <ac:chgData name="Farah Hussein" userId="ec7de749-96cb-4ff3-b2ac-f6f7daf8d3df" providerId="ADAL" clId="{80DF9540-D053-4469-86F7-3BAF6D34A3CD}" dt="2025-06-03T14:30:46.506" v="1" actId="403"/>
          <ac:spMkLst>
            <pc:docMk/>
            <pc:sldMk cId="0" sldId="331"/>
            <ac:spMk id="33795" creationId="{F23F1808-82F0-B227-9D7F-34CFE9194C92}"/>
          </ac:spMkLst>
        </pc:spChg>
      </pc:sldChg>
      <pc:sldChg chg="modSp mod">
        <pc:chgData name="Farah Hussein" userId="ec7de749-96cb-4ff3-b2ac-f6f7daf8d3df" providerId="ADAL" clId="{80DF9540-D053-4469-86F7-3BAF6D34A3CD}" dt="2025-06-03T15:54:58.019" v="71" actId="20577"/>
        <pc:sldMkLst>
          <pc:docMk/>
          <pc:sldMk cId="326291014" sldId="432"/>
        </pc:sldMkLst>
        <pc:spChg chg="mod">
          <ac:chgData name="Farah Hussein" userId="ec7de749-96cb-4ff3-b2ac-f6f7daf8d3df" providerId="ADAL" clId="{80DF9540-D053-4469-86F7-3BAF6D34A3CD}" dt="2025-06-03T15:54:58.019" v="71" actId="20577"/>
          <ac:spMkLst>
            <pc:docMk/>
            <pc:sldMk cId="326291014" sldId="432"/>
            <ac:spMk id="3" creationId="{00000000-0000-0000-0000-000000000000}"/>
          </ac:spMkLst>
        </pc:spChg>
      </pc:sldChg>
      <pc:sldChg chg="modSp mod">
        <pc:chgData name="Farah Hussein" userId="ec7de749-96cb-4ff3-b2ac-f6f7daf8d3df" providerId="ADAL" clId="{80DF9540-D053-4469-86F7-3BAF6D34A3CD}" dt="2025-06-03T15:58:11.482" v="122" actId="20577"/>
        <pc:sldMkLst>
          <pc:docMk/>
          <pc:sldMk cId="636496815" sldId="439"/>
        </pc:sldMkLst>
        <pc:spChg chg="mod">
          <ac:chgData name="Farah Hussein" userId="ec7de749-96cb-4ff3-b2ac-f6f7daf8d3df" providerId="ADAL" clId="{80DF9540-D053-4469-86F7-3BAF6D34A3CD}" dt="2025-06-03T15:58:11.482" v="122" actId="20577"/>
          <ac:spMkLst>
            <pc:docMk/>
            <pc:sldMk cId="636496815" sldId="439"/>
            <ac:spMk id="3" creationId="{00000000-0000-0000-0000-000000000000}"/>
          </ac:spMkLst>
        </pc:spChg>
      </pc:sldChg>
      <pc:sldChg chg="modSp mod">
        <pc:chgData name="Farah Hussein" userId="ec7de749-96cb-4ff3-b2ac-f6f7daf8d3df" providerId="ADAL" clId="{80DF9540-D053-4469-86F7-3BAF6D34A3CD}" dt="2025-06-03T15:56:12.890" v="77" actId="20577"/>
        <pc:sldMkLst>
          <pc:docMk/>
          <pc:sldMk cId="577261926" sldId="440"/>
        </pc:sldMkLst>
        <pc:spChg chg="mod">
          <ac:chgData name="Farah Hussein" userId="ec7de749-96cb-4ff3-b2ac-f6f7daf8d3df" providerId="ADAL" clId="{80DF9540-D053-4469-86F7-3BAF6D34A3CD}" dt="2025-06-03T15:56:12.890" v="77" actId="20577"/>
          <ac:spMkLst>
            <pc:docMk/>
            <pc:sldMk cId="577261926" sldId="440"/>
            <ac:spMk id="3" creationId="{00000000-0000-0000-0000-000000000000}"/>
          </ac:spMkLst>
        </pc:spChg>
      </pc:sldChg>
      <pc:sldChg chg="modSp mod">
        <pc:chgData name="Farah Hussein" userId="ec7de749-96cb-4ff3-b2ac-f6f7daf8d3df" providerId="ADAL" clId="{80DF9540-D053-4469-86F7-3BAF6D34A3CD}" dt="2025-06-03T15:54:06.279" v="55" actId="1076"/>
        <pc:sldMkLst>
          <pc:docMk/>
          <pc:sldMk cId="589662978" sldId="441"/>
        </pc:sldMkLst>
        <pc:spChg chg="mod">
          <ac:chgData name="Farah Hussein" userId="ec7de749-96cb-4ff3-b2ac-f6f7daf8d3df" providerId="ADAL" clId="{80DF9540-D053-4469-86F7-3BAF6D34A3CD}" dt="2025-06-03T15:54:06.279" v="55" actId="1076"/>
          <ac:spMkLst>
            <pc:docMk/>
            <pc:sldMk cId="589662978" sldId="441"/>
            <ac:spMk id="3" creationId="{00000000-0000-0000-0000-000000000000}"/>
          </ac:spMkLst>
        </pc:spChg>
      </pc:sldChg>
      <pc:sldChg chg="modSp mod">
        <pc:chgData name="Farah Hussein" userId="ec7de749-96cb-4ff3-b2ac-f6f7daf8d3df" providerId="ADAL" clId="{80DF9540-D053-4469-86F7-3BAF6D34A3CD}" dt="2025-06-03T15:51:12.029" v="24" actId="20577"/>
        <pc:sldMkLst>
          <pc:docMk/>
          <pc:sldMk cId="777679338" sldId="453"/>
        </pc:sldMkLst>
        <pc:spChg chg="mod">
          <ac:chgData name="Farah Hussein" userId="ec7de749-96cb-4ff3-b2ac-f6f7daf8d3df" providerId="ADAL" clId="{80DF9540-D053-4469-86F7-3BAF6D34A3CD}" dt="2025-06-03T15:51:12.029" v="24" actId="20577"/>
          <ac:spMkLst>
            <pc:docMk/>
            <pc:sldMk cId="777679338" sldId="453"/>
            <ac:spMk id="3" creationId="{7DE1AA65-FE8C-F5EE-77B9-B65A4B686C6A}"/>
          </ac:spMkLst>
        </pc:spChg>
      </pc:sldChg>
      <pc:sldChg chg="modSp mod">
        <pc:chgData name="Farah Hussein" userId="ec7de749-96cb-4ff3-b2ac-f6f7daf8d3df" providerId="ADAL" clId="{80DF9540-D053-4469-86F7-3BAF6D34A3CD}" dt="2025-06-03T15:52:04.288" v="54" actId="20577"/>
        <pc:sldMkLst>
          <pc:docMk/>
          <pc:sldMk cId="1693448565" sldId="454"/>
        </pc:sldMkLst>
        <pc:spChg chg="mod">
          <ac:chgData name="Farah Hussein" userId="ec7de749-96cb-4ff3-b2ac-f6f7daf8d3df" providerId="ADAL" clId="{80DF9540-D053-4469-86F7-3BAF6D34A3CD}" dt="2025-06-03T15:52:04.288" v="54" actId="20577"/>
          <ac:spMkLst>
            <pc:docMk/>
            <pc:sldMk cId="1693448565" sldId="454"/>
            <ac:spMk id="3" creationId="{2B562E1D-829C-F976-9F6B-C5268B3E87F7}"/>
          </ac:spMkLst>
        </pc:spChg>
      </pc:sldChg>
      <pc:sldChg chg="modSp mod">
        <pc:chgData name="Farah Hussein" userId="ec7de749-96cb-4ff3-b2ac-f6f7daf8d3df" providerId="ADAL" clId="{80DF9540-D053-4469-86F7-3BAF6D34A3CD}" dt="2025-06-03T15:50:24.030" v="4" actId="20577"/>
        <pc:sldMkLst>
          <pc:docMk/>
          <pc:sldMk cId="137217622" sldId="457"/>
        </pc:sldMkLst>
        <pc:spChg chg="mod">
          <ac:chgData name="Farah Hussein" userId="ec7de749-96cb-4ff3-b2ac-f6f7daf8d3df" providerId="ADAL" clId="{80DF9540-D053-4469-86F7-3BAF6D34A3CD}" dt="2025-06-03T15:50:24.030" v="4" actId="20577"/>
          <ac:spMkLst>
            <pc:docMk/>
            <pc:sldMk cId="137217622" sldId="457"/>
            <ac:spMk id="3" creationId="{79B9F684-9561-3E4D-09E6-F4C52343B7DD}"/>
          </ac:spMkLst>
        </pc:spChg>
      </pc:sldChg>
    </pc:docChg>
  </pc:docChgLst>
  <pc:docChgLst>
    <pc:chgData name="Farah Hussein" userId="ec7de749-96cb-4ff3-b2ac-f6f7daf8d3df" providerId="ADAL" clId="{AC92C950-6AFA-4DCB-96CF-239EF8BE2BA7}"/>
    <pc:docChg chg="delSld modSld">
      <pc:chgData name="Farah Hussein" userId="ec7de749-96cb-4ff3-b2ac-f6f7daf8d3df" providerId="ADAL" clId="{AC92C950-6AFA-4DCB-96CF-239EF8BE2BA7}" dt="2024-06-03T13:34:36.433" v="18" actId="2696"/>
      <pc:docMkLst>
        <pc:docMk/>
      </pc:docMkLst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256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275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283"/>
        </pc:sldMkLst>
      </pc:sldChg>
      <pc:sldChg chg="modSp 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294"/>
        </pc:sldMkLst>
      </pc:sldChg>
      <pc:sldChg chg="modSp del mod">
        <pc:chgData name="Farah Hussein" userId="ec7de749-96cb-4ff3-b2ac-f6f7daf8d3df" providerId="ADAL" clId="{AC92C950-6AFA-4DCB-96CF-239EF8BE2BA7}" dt="2024-06-03T13:34:36.433" v="18" actId="2696"/>
        <pc:sldMkLst>
          <pc:docMk/>
          <pc:sldMk cId="2131568492" sldId="312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649484111" sldId="313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628425923" sldId="314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16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18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19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20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21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22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23"/>
        </pc:sldMkLst>
      </pc:sldChg>
      <pc:sldChg chg="del">
        <pc:chgData name="Farah Hussein" userId="ec7de749-96cb-4ff3-b2ac-f6f7daf8d3df" providerId="ADAL" clId="{AC92C950-6AFA-4DCB-96CF-239EF8BE2BA7}" dt="2024-06-01T17:39:56.345" v="16" actId="47"/>
        <pc:sldMkLst>
          <pc:docMk/>
          <pc:sldMk cId="0" sldId="324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25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26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29"/>
        </pc:sldMkLst>
      </pc:sldChg>
      <pc:sldChg chg="del">
        <pc:chgData name="Farah Hussein" userId="ec7de749-96cb-4ff3-b2ac-f6f7daf8d3df" providerId="ADAL" clId="{AC92C950-6AFA-4DCB-96CF-239EF8BE2BA7}" dt="2024-06-03T13:34:36.433" v="18" actId="2696"/>
        <pc:sldMkLst>
          <pc:docMk/>
          <pc:sldMk cId="0" sldId="330"/>
        </pc:sldMkLst>
      </pc:sldChg>
      <pc:sldChg chg="modSp">
        <pc:chgData name="Farah Hussein" userId="ec7de749-96cb-4ff3-b2ac-f6f7daf8d3df" providerId="ADAL" clId="{AC92C950-6AFA-4DCB-96CF-239EF8BE2BA7}" dt="2024-06-01T18:08:20.003" v="17" actId="20578"/>
        <pc:sldMkLst>
          <pc:docMk/>
          <pc:sldMk cId="0" sldId="33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3T17:22:21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0 24575,'13'267'0,"0"-16"0,-13-242 0,1 0 0,0 1 0,1-1 0,0 0 0,0-1 0,0 1 0,7 15 0,33 54 0,-33-64 0,0 1 0,-1 1 0,0 0 0,-1 0 0,-1 1 0,5 18 0,0 28 0,6 114 0,-14 63 0,-4-173 0,1-45 0,-1 0 0,0 0 0,-2 0 0,-1 0 0,0-1 0,-2 1 0,0-1 0,-1 0 0,-1-1 0,-1 0 0,0 0 0,-2-1 0,0 0 0,-17 21 0,1-3 0,-30 50 0,33-47 0,-35 43 0,-103 116 0,156-191 0,-1-1 0,2 1 0,-1 0 0,1 0 0,0 0 0,-7 16 0,11-20 0,0 1 0,0 0 0,0 0 0,0-1 0,1 1 0,0 0 0,0 0 0,0 0 0,0 0 0,1 0 0,-1-1 0,1 1 0,0 0 0,1 0 0,3 8 0,42 89 0,0-1 0,-18-18 0,-3 2 0,-5 0 0,-2 2 0,-4 0 0,6 115 0,-15 452 0,-10-371 0,6 92 0,-4 288 0,-23-386 0,5-102 0,13 277 0,10-260 0,-5-67 0,4 134 0,-1-247 0,1 0 0,0 0 0,1-1 0,0 1 0,0-1 0,1 1 0,0-1 0,1-1 0,0 1 0,12 17 0,3-2 0,0-1 0,39 36 0,-37-37 0,-1 1 0,0 0 0,-2 2 0,-1 1 0,23 46 0,-35-63 0,1-1 0,0 0 0,0 0 0,15 14 0,13 19 0,-32-38-97,-1-1-1,1 0 1,0 0-1,0 0 1,0-1-1,1 1 1,0-1-1,-1 0 1,1 0-1,0 0 1,0-1-1,0 1 0,9 2 1,4 0-6729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3T17:22:26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1 24575,'-6'7'0,"1"0"0,0 1 0,1 0 0,0 0 0,0 0 0,0 0 0,1 1 0,-3 10 0,2-4 0,-10 25 0,3 0 0,1 1 0,2 0 0,2 1 0,1 0 0,1 78 0,3-109 0,0 1 0,0-1 0,-2 1 0,1-1 0,-1 0 0,-1 0 0,-4 12 0,2-9 0,1 0 0,1 0 0,-5 28 0,5 29 0,5 106 0,1-59 0,-1-87 0,-1-6 0,0 1 0,-5 28 0,4-45 0,-1-1 0,0 0 0,0 0 0,-1 1 0,0-1 0,0-1 0,-1 1 0,0-1 0,0 1 0,-7 8 0,1-3 0,0 0 0,-1-1 0,-1 0 0,0-1 0,0 0 0,-1-1 0,-14 8 0,2-3 0,-50 20 0,74-35 0,0 0 0,0 1 0,0-1 0,0 1 0,0-1 0,0 1 0,0-1 0,0 1 0,0 0 0,0 0 0,0-1 0,0 1 0,0 0 0,1 0 0,-1 0 0,0 0 0,1 0 0,-1 0 0,0 0 0,1 1 0,-1-1 0,1 0 0,0 0 0,-1 2 0,1-1 0,0 1 0,0-1 0,0 0 0,1 0 0,-1 0 0,1 0 0,-1 0 0,1 0 0,0 0 0,0 0 0,-1 0 0,1 0 0,2 2 0,4 5 0,0 0 0,0 0 0,1 0 0,9 7 0,-11-10 0,-1-1 0,1 1 0,-1 0 0,0 0 0,0 1 0,-1 0 0,0-1 0,0 2 0,0-1 0,-1 0 0,0 1 0,0 0 0,-1 0 0,0 0 0,0 0 0,0 0 0,-1 0 0,0 13 0,0 358 0,-4-169 0,2-132 0,2 86 0,1-153 9,0 1 0,1 0 0,0 0 0,1-1 0,0 0-1,0 0 1,1 0 0,1 0 0,0-1 0,9 13 0,10 10-461,44 46 0,-54-62-107,2 0-6267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3T17:22:35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1 764 24575,'3'-1'0,"0"0"0,0 0 0,0 0 0,-1 0 0,1-1 0,0 1 0,-1-1 0,1 1 0,-1-1 0,1 0 0,-1 0 0,4-4 0,4-2 0,53-38 0,121-63 0,80-17 0,-231 113 0,0 1 0,2 2 0,61-9 0,-81 15 0,-1 0 0,1-1 0,-1-1 0,0 0 0,24-15 0,-18 10 0,34-14 0,-32 18 0,0 1 0,1 1 0,0 1 0,39-2 0,95 8 0,-63 0 0,76 13 0,-77-4 0,79 14 0,-104-13 0,118 6 0,593-20 0,-714 0 0,-1-3 0,0-3 0,0-2 0,84-26 0,-95 20 0,225-64 0,-87 39 0,260-23 0,-356 52 0,-57 5 0,0 3 0,0 1 0,48 3 0,-79 1 0,0 0 0,1 0 0,-1 1 0,0 0 0,0 1 0,-1 0 0,1 0 0,0 0 0,-1 1 0,0 0 0,0 0 0,7 6 0,6 7 0,-1 2 0,20 24 0,-25-26 0,2-1 0,-1 0 0,31 23 0,7-3 0,1-2 0,1-3 0,101 41 0,-113-57 0,0-2 0,0-1 0,1-3 0,1-1 0,-1-2 0,54 0 0,94 5 0,23 0 0,-195-11 0,803 21 0,-602 5 0,79 4 0,314-56 0,-99-2 0,562 30 0,-1036 1 0,0 0 0,71 18 0,-68-12 0,0-1 0,56 2 0,64-12 0,1-8 0,-1-6 0,210-49 0,134-50 0,-10-37 0,-463 139 0,408-136 0,-378 132 0,1 3 0,0 3 0,1 3 0,0 2 0,68 4 0,-107 4 0,1-1 0,-1-2 0,0 0 0,0-2 0,31-7 0,0-3 0,1 2 0,114-6 0,124 17 0,-145 3 0,-42-4 0,313 18 0,-303-6 0,-53-5 0,66 13 0,-67-7 0,135 6 0,70-19 0,-106-1 0,-7 1 0,172 3 0,-280 3 0,0 2 0,66 19 0,-37-8 0,-43-10 0,0 1 0,-1 1 0,0 2 0,34 17 0,137 58 0,-139-61 0,-47-17 0,-1 1 0,0 0 0,-1 1 0,0 1 0,-1 1 0,-1 1 0,0 0 0,27 31 0,-25-24 0,-2 1 0,0 1 0,-2 0 0,0 1 0,-2 0 0,15 41 0,-22-54 15,0-1 0,0 1 0,1-1 0,1 0 0,9 12 0,-10-15-160,0 1-1,-1 0 1,1 0-1,-2 0 1,1 1-1,-1-1 1,-1 1-1,1 0 0,1 10 1,-1 8-6681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3T17:22:37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24575,'0'9'0,"0"7"0,0 5 0,0 4 0,0 2 0,0 1 0,0 0 0,0 4 0,0 2 0,0-2 0,0 0 0,0-3 0,0-5-8191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3T17:22:43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0 24575,'0'473'0,"2"-457"0,0 0 0,0 0 0,1 0 0,1-1 0,1 1 0,0-1 0,9 17 0,-4-9 0,9 38 0,-18-59 0,3 26 0,-4-28 0,0 0 0,0 1 0,0-1 0,0 0 0,0 1 0,0-1 0,0 1 0,0-1 0,0 0 0,0 1 0,0-1 0,0 1 0,0-1 0,-1 0 0,1 1 0,0-1 0,0 0 0,0 1 0,-1-1 0,1 0 0,0 1 0,0-1 0,-1 0 0,1 1 0,0-1 0,-1 0 0,1 0 0,0 1 0,-1-1 0,1 0 0,0 0 0,-1 0 0,1 0 0,0 1 0,-1-1 0,1 0 0,-1 0 0,1 0 0,0 0 0,-1 0 0,1 0 0,-1 0 0,1 0 0,0 0 0,-1 0 0,1 0 0,-1 0 0,1-1 0,0 1 0,-1 0 0,1 0 0,0 0 0,-1 0 0,1-1 0,0 1 0,-1 0 0,1 0 0,-1-1 0,-20-12 0,1-1 0,0 0 0,1-2 0,-20-20 0,19 16 0,-2 1 0,-40-27 0,62 46 0,0 0 0,-1 0 0,1 0 0,0 0 0,-1 0 0,1 0 0,0 0 0,-1-1 0,1 1 0,0 0 0,0 0 0,-1 0 0,1-1 0,0 1 0,-1 0 0,1 0 0,0 0 0,0-1 0,-1 1 0,1 0 0,0-1 0,0 1 0,0 0 0,0 0 0,-1-1 0,1 1 0,0 0 0,0-1 0,0 1 0,0 0 0,0-1 0,0 1 0,0-1 0,0 1 0,0 0 0,0-1 0,0 1 0,0 0 0,0-1 0,17-3 0,42 6 0,-44-1 0,4-2 0,0 2 0,0 0 0,0 2 0,0 0 0,-1 1 0,1 1 0,20 7 0,-35-10 0,0-1 0,0 1 0,0 0 0,0 0 0,0 0 0,0 0 0,0 1 0,0 0 0,-1-1 0,0 1 0,1 1 0,-1-1 0,0 0 0,0 1 0,-1-1 0,1 1 0,-1 0 0,0 0 0,0 0 0,0 0 0,-1 1 0,1-1 0,-1 0 0,0 1 0,0-1 0,0 0 0,-1 1 0,0 7 0,-1 66-1365,0-55-5461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3T17:22:49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446 589 24575,'1'-3'0,"0"-1"0,1 1 0,-1 1 0,1-1 0,0 0 0,0 0 0,0 1 0,0-1 0,0 1 0,1-1 0,5-3 0,1-3 0,95-88 0,-33 26 0,-40 41 0,42-51 0,-60 63 0,63-86 0,-66 87 0,0 0 0,-1 0 0,0-1 0,8-25 0,-17 41 0,1 1 0,-1-1 0,1 1 0,-1 0 0,0-1 0,0 1 0,0-1 0,0 1 0,1 0 0,-2-1 0,1 1 0,0-1 0,0 1 0,0-1 0,-1-1 0,0 3 0,1-1 0,0 1 0,-1 0 0,1-1 0,-1 1 0,1 0 0,0-1 0,-1 1 0,1 0 0,-1-1 0,1 1 0,-1 0 0,1 0 0,-1 0 0,1 0 0,-1-1 0,1 1 0,-1 0 0,1 0 0,-1 0 0,1 0 0,-1 0 0,1 0 0,-1 0 0,1 0 0,-1 1 0,0-1 0,-3 1 0,1 0 0,-1 1 0,0-1 0,1 1 0,0 0 0,-1 0 0,1 0 0,-6 6 0,-4 3 0,-1 0 0,0 0 0,-1-2 0,0 1 0,-1-2 0,-25 10 0,3-5 0,-70 15 0,62-17 0,28-6 0,-1 0 0,1-2 0,-20 2 0,7-2 0,-34 7 0,35-4 0,-36 1 0,56-6 0,-39 1 0,-71 12 0,98-11 0,15-2 0,1 0 0,-1 0 0,0 0 0,-12 6 0,19-7 0,0 0 0,0 0 0,-1 0 0,1 0 0,0 0 0,0 0 0,0 0 0,-1 0 0,1 1 0,0-1 0,0 0 0,0 0 0,0 0 0,-1 0 0,1 1 0,0-1 0,0 0 0,0 0 0,0 0 0,0 1 0,0-1 0,0 0 0,-1 0 0,1 0 0,0 1 0,0-1 0,0 0 0,0 0 0,0 0 0,0 1 0,0-1 0,0 0 0,0 0 0,0 1 0,0-1 0,0 0 0,0 0 0,1 0 0,-1 1 0,0-1 0,10 9 0,20 8 0,-24-15 0,22 13 0,0-3 0,58 19 0,-67-25 0,1 2 0,-2 0 0,30 18 0,2 1 0,-38-21 20,0 0 0,-1 1 0,0 0 0,0 1 0,16 16 0,-22-20-126,-1 1 0,1 0 0,-2 1 0,1-1 0,0 1 0,-1-1-1,0 1 1,0 0 0,-1 0 0,0 1 0,0-1 0,0 0 0,0 8 0,1 14-6720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C75871A-6951-7348-5884-A4BAD1983F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F97CFD7E-0CB5-4A81-9AC5-038052EDCB43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612BFD0A-1A0F-619B-15E5-A272AA9B87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1DD28453-722F-C816-57EF-869DD3DE8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5050042-4297-D602-BF0E-539374A719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A2ED737A-3892-4BC3-A0CE-635FC2D9114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2B1FEB39-21B2-8FCA-B689-D47C2C65C5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5BBD9A75-08AE-2A53-1E57-5BBB62ABB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F13A6B-625D-F39F-135B-9A1361BC59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B2E62B30-1C09-4886-928A-2C18FF189F2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E759788B-520B-EDF7-BC64-D19D9B3C03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A91CCDE3-BE93-0AAD-36EA-5A17B1EDD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725DF2C-A0B0-F58D-B0EE-69BB5E44C3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0B1ED931-6AF3-4B0A-99C7-9F41A26DBDD5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4245EF5F-985C-2462-BA6A-D3F7345E03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4169D641-0B0A-F12F-9AAA-EBEFEFC44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6E5CF4F-B674-5C64-91D3-C0CF64FAD3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1AEBB52F-E835-40FE-86A6-D65895FECAE0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73AD8D6A-C3D7-AA7F-B937-CE1F2FC53D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B210FEF5-0CAF-F3C3-4F89-2BABC3975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AA0A6E4-8D90-14F7-3B04-07BD383C0A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411F4A9E-9DB0-48F5-A520-74E8AB0C48E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8888E75B-DF3F-4907-4B6C-157F170373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FEBCD277-1F01-A785-EEA0-4A947F1DD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57F0AA5-0A56-05AE-5B31-03A5DF43A6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F97E3938-EFF2-426F-9D7F-B8D2FE35272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AE89BB4B-E4AC-D02B-F018-431E596FA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65DA292B-3350-9ABE-DE38-754D215780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E026C4E-C2D1-5225-1F0B-FA744A77FE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07A63633-B8CF-45E3-9BEE-6E0BFE052C6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44386" name="Rectangle 2">
            <a:extLst>
              <a:ext uri="{FF2B5EF4-FFF2-40B4-BE49-F238E27FC236}">
                <a16:creationId xmlns:a16="http://schemas.microsoft.com/office/drawing/2014/main" id="{E8493E9E-5557-A497-7F0D-14DDC3C484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668498B5-7EA4-C359-C632-43198053CB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2B4E166-C6BF-4504-7160-864616F495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C92EEB75-E71A-4280-8823-32A5C9C0E3D3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6B181B9D-2FC7-8206-5BBB-8E2D4293D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563592BC-216F-0BED-7731-36854E214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96DBC8C-F874-8994-64E2-68D8A00DB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A4DFF8F1-CB16-4565-AAFB-84B08B4785C6}" type="slidenum">
              <a:rPr lang="sv-SE" altLang="en-US"/>
              <a:pPr/>
              <a:t>11</a:t>
            </a:fld>
            <a:endParaRPr lang="sv-SE" altLang="en-US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7A4FB470-BFDA-6AE7-9D50-54122A700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270022FF-9398-D11D-F22D-A89F71616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78805B0-36C1-9784-8533-D1EAAFBCE7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40599" tIns="20300" rIns="40599" bIns="20300"/>
          <a:lstStyle/>
          <a:p>
            <a:fld id="{9FC207AD-39DD-4E21-8A6C-467CD61DB451}" type="slidenum">
              <a:rPr lang="sv-SE" altLang="en-US"/>
              <a:pPr/>
              <a:t>12</a:t>
            </a:fld>
            <a:endParaRPr lang="sv-SE" altLang="en-US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1173E624-6969-C41F-AEAE-3EE826531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0BA9D4F-711B-5E47-951C-C09DF31A4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lIns="40599" tIns="20300" rIns="40599" bIns="20300"/>
          <a:lstStyle/>
          <a:p>
            <a:r>
              <a:rPr lang="sv-SE" altLang="en-US"/>
              <a:t>Example with a gardener.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979E7DA-EED5-C00A-E64E-EFD0E571585A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DC526C5-DB94-B73F-7FFB-8C968F8B44B7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871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417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E3BE297-C9F9-E36C-C395-A918ED0B7A7E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5FDF4EB-2EA6-0289-5CA9-0F46EF827ED3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1D00218-F190-7563-CCE1-8BDA07567047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181CEEB-83B6-A7F0-1514-882D496FF872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AF6ADF-12E8-ADC8-FFAC-85E9B2DE3E2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EAD82F0-531A-55DD-7803-09DF78C524EA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18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36363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Image 0" descr="preencoded.png">
            <a:extLst>
              <a:ext uri="{FF2B5EF4-FFF2-40B4-BE49-F238E27FC236}">
                <a16:creationId xmlns:a16="http://schemas.microsoft.com/office/drawing/2014/main" id="{E500269B-028E-C871-C4E1-D0D431DD0C92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80E43CCA-9CD6-B2EB-C466-4E085DDE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2" name="Image 5" descr="preencoded.png">
            <a:extLst>
              <a:ext uri="{FF2B5EF4-FFF2-40B4-BE49-F238E27FC236}">
                <a16:creationId xmlns:a16="http://schemas.microsoft.com/office/drawing/2014/main" id="{84404451-4B3C-E108-FE55-4F852AF42D7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6" descr="preencoded.png">
            <a:extLst>
              <a:ext uri="{FF2B5EF4-FFF2-40B4-BE49-F238E27FC236}">
                <a16:creationId xmlns:a16="http://schemas.microsoft.com/office/drawing/2014/main" id="{418FDA24-B0C2-0E98-D458-B8644DE833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8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8317A35-D2F1-CDD7-3B4A-A95846DBBE45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3D58E0F-F7E2-F810-2901-353C6712B211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8E85C98-1B1D-E887-5373-46D3F01DA443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35065C3-51CD-AD37-7B68-8DC861ED02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0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DF8B0B-2A80-AE07-3BD4-37DDEC82CE18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397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ECA67AC-6683-FD90-E8DD-186969F0DA3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49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02526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6622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13524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78435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66861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69199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081881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594793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4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663" r:id="rId18"/>
    <p:sldLayoutId id="2147483664" r:id="rId19"/>
    <p:sldLayoutId id="2147483668" r:id="rId20"/>
    <p:sldLayoutId id="2147483669" r:id="rId21"/>
    <p:sldLayoutId id="2147483673" r:id="rId22"/>
    <p:sldLayoutId id="2147483670" r:id="rId23"/>
    <p:sldLayoutId id="2147483671" r:id="rId24"/>
    <p:sldLayoutId id="2147483655" r:id="rId25"/>
    <p:sldLayoutId id="2147483674" r:id="rId26"/>
    <p:sldLayoutId id="2147483654" r:id="rId2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liCbRZPrZ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www.youtube.com/watch?v=_YPScrckx28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6.png"/><Relationship Id="rId5" Type="http://schemas.openxmlformats.org/officeDocument/2006/relationships/image" Target="../media/image13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AA78F5B-BB15-0C76-CE8F-C088C2D9047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if Data Are Not Perfectly Linearly Separable?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23F1808-82F0-B227-9D7F-34CFE9194C9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1304925" y="2438400"/>
            <a:ext cx="8229600" cy="381000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Cannot find w and b that satisfy</a:t>
            </a:r>
          </a:p>
          <a:p>
            <a:pPr lvl="1"/>
            <a:r>
              <a:rPr lang="en-US" altLang="en-US" sz="2000" dirty="0" err="1"/>
              <a:t>y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(&lt;</a:t>
            </a:r>
            <a:r>
              <a:rPr lang="en-US" altLang="en-US" sz="2000" dirty="0" err="1"/>
              <a:t>w,x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&gt; + b) ≥ 1 for all </a:t>
            </a:r>
            <a:r>
              <a:rPr lang="en-US" altLang="en-US" sz="2000" dirty="0" err="1"/>
              <a:t>i</a:t>
            </a:r>
            <a:endParaRPr lang="en-US" altLang="en-US" sz="2000" dirty="0"/>
          </a:p>
          <a:p>
            <a:r>
              <a:rPr lang="en-US" altLang="en-US" sz="2400" dirty="0"/>
              <a:t>Introduce slack variables </a:t>
            </a:r>
            <a:r>
              <a:rPr lang="en-US" altLang="en-US" sz="2400" dirty="0">
                <a:sym typeface="Symbol" panose="05050102010706020507" pitchFamily="18" charset="2"/>
              </a:rPr>
              <a:t>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i</a:t>
            </a:r>
            <a:endParaRPr lang="en-US" altLang="en-US" sz="2400" dirty="0"/>
          </a:p>
          <a:p>
            <a:pPr lvl="1"/>
            <a:r>
              <a:rPr lang="en-US" altLang="en-US" sz="2000" dirty="0" err="1"/>
              <a:t>y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 (&lt;</a:t>
            </a:r>
            <a:r>
              <a:rPr lang="en-US" altLang="en-US" sz="2000" dirty="0" err="1"/>
              <a:t>w,x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&gt; + b) ≥ 1 - </a:t>
            </a:r>
            <a:r>
              <a:rPr lang="en-US" altLang="en-US" sz="2000" dirty="0">
                <a:sym typeface="Symbol" panose="05050102010706020507" pitchFamily="18" charset="2"/>
              </a:rPr>
              <a:t></a:t>
            </a:r>
            <a:r>
              <a:rPr lang="en-US" altLang="en-US" sz="2000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/>
              <a:t> for all </a:t>
            </a:r>
            <a:r>
              <a:rPr lang="en-US" altLang="en-US" sz="2000" dirty="0" err="1"/>
              <a:t>i</a:t>
            </a:r>
            <a:endParaRPr lang="en-US" altLang="en-US" sz="2000" dirty="0"/>
          </a:p>
          <a:p>
            <a:r>
              <a:rPr lang="en-US" altLang="en-US" sz="2400" dirty="0"/>
              <a:t>Minimize</a:t>
            </a:r>
          </a:p>
          <a:p>
            <a:pPr lvl="1"/>
            <a:r>
              <a:rPr lang="en-US" altLang="en-US" sz="2000" dirty="0"/>
              <a:t>|w|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+ C </a:t>
            </a:r>
            <a:r>
              <a:rPr lang="en-US" altLang="en-US" sz="2000" dirty="0">
                <a:sym typeface="Symbol" panose="05050102010706020507" pitchFamily="18" charset="2"/>
              </a:rPr>
              <a:t> </a:t>
            </a:r>
            <a:r>
              <a:rPr lang="en-US" altLang="en-US" sz="2000" baseline="-25000" dirty="0" err="1">
                <a:sym typeface="Symbol" panose="05050102010706020507" pitchFamily="18" charset="2"/>
              </a:rPr>
              <a:t>i</a:t>
            </a:r>
            <a:endParaRPr lang="en-US" altLang="en-US" sz="2000" baseline="-25000" dirty="0">
              <a:sym typeface="Symbol" panose="05050102010706020507" pitchFamily="18" charset="2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1EA5651-0DE9-C394-FD96-86EB0718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506F96D-C099-C92E-5697-2E19AB3C1BD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if Surface is Non-Linear?</a:t>
            </a:r>
          </a:p>
        </p:txBody>
      </p:sp>
      <p:grpSp>
        <p:nvGrpSpPr>
          <p:cNvPr id="35872" name="Group 32">
            <a:extLst>
              <a:ext uri="{FF2B5EF4-FFF2-40B4-BE49-F238E27FC236}">
                <a16:creationId xmlns:a16="http://schemas.microsoft.com/office/drawing/2014/main" id="{AFF81295-C4DD-F1A0-58D9-E521D445678E}"/>
              </a:ext>
            </a:extLst>
          </p:cNvPr>
          <p:cNvGrpSpPr>
            <a:grpSpLocks/>
          </p:cNvGrpSpPr>
          <p:nvPr/>
        </p:nvGrpSpPr>
        <p:grpSpPr bwMode="auto">
          <a:xfrm>
            <a:off x="1890164" y="2591044"/>
            <a:ext cx="3700253" cy="3086607"/>
            <a:chOff x="1152" y="1344"/>
            <a:chExt cx="3648" cy="2343"/>
          </a:xfrm>
        </p:grpSpPr>
        <p:sp>
          <p:nvSpPr>
            <p:cNvPr id="35844" name="Text Box 4">
              <a:extLst>
                <a:ext uri="{FF2B5EF4-FFF2-40B4-BE49-F238E27FC236}">
                  <a16:creationId xmlns:a16="http://schemas.microsoft.com/office/drawing/2014/main" id="{ED5A5C73-39A8-9404-567C-8186711EA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160"/>
              <a:ext cx="459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45" name="Text Box 5">
              <a:extLst>
                <a:ext uri="{FF2B5EF4-FFF2-40B4-BE49-F238E27FC236}">
                  <a16:creationId xmlns:a16="http://schemas.microsoft.com/office/drawing/2014/main" id="{C4FBFAEF-8D2B-53F9-F185-DCA7C67C4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" y="2620"/>
              <a:ext cx="459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46" name="Text Box 6">
              <a:extLst>
                <a:ext uri="{FF2B5EF4-FFF2-40B4-BE49-F238E27FC236}">
                  <a16:creationId xmlns:a16="http://schemas.microsoft.com/office/drawing/2014/main" id="{7991A9DB-E706-46BC-0863-6792C57D4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2332"/>
              <a:ext cx="459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47" name="Text Box 7">
              <a:extLst>
                <a:ext uri="{FF2B5EF4-FFF2-40B4-BE49-F238E27FC236}">
                  <a16:creationId xmlns:a16="http://schemas.microsoft.com/office/drawing/2014/main" id="{C34C2A2A-8311-886E-DAA4-AD3E43BDFC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3" y="2044"/>
              <a:ext cx="459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48" name="Text Box 8">
              <a:extLst>
                <a:ext uri="{FF2B5EF4-FFF2-40B4-BE49-F238E27FC236}">
                  <a16:creationId xmlns:a16="http://schemas.microsoft.com/office/drawing/2014/main" id="{43E59F8C-47BA-F25D-DA29-5988DA6FD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5" y="2620"/>
              <a:ext cx="459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49" name="Text Box 9">
              <a:extLst>
                <a:ext uri="{FF2B5EF4-FFF2-40B4-BE49-F238E27FC236}">
                  <a16:creationId xmlns:a16="http://schemas.microsoft.com/office/drawing/2014/main" id="{A56078E6-1F07-41DE-6CF5-0E5D2AA47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3" y="2236"/>
              <a:ext cx="459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50" name="Oval 10">
              <a:extLst>
                <a:ext uri="{FF2B5EF4-FFF2-40B4-BE49-F238E27FC236}">
                  <a16:creationId xmlns:a16="http://schemas.microsoft.com/office/drawing/2014/main" id="{C1C0453A-5672-A577-263E-816F4891F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3" y="2016"/>
              <a:ext cx="2112" cy="1056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5851" name="Text Box 11">
              <a:extLst>
                <a:ext uri="{FF2B5EF4-FFF2-40B4-BE49-F238E27FC236}">
                  <a16:creationId xmlns:a16="http://schemas.microsoft.com/office/drawing/2014/main" id="{11B26A74-AEF7-7E9F-094E-BC93C9C9E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4" y="1708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53" name="Text Box 13">
              <a:extLst>
                <a:ext uri="{FF2B5EF4-FFF2-40B4-BE49-F238E27FC236}">
                  <a16:creationId xmlns:a16="http://schemas.microsoft.com/office/drawing/2014/main" id="{12790524-F884-C392-076C-2FE339510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" y="1584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dirty="0"/>
                <a:t>O</a:t>
              </a:r>
              <a:endParaRPr lang="en-US" altLang="en-US" dirty="0">
                <a:latin typeface="Times" panose="02020603050405020304" pitchFamily="18" charset="0"/>
              </a:endParaRPr>
            </a:p>
          </p:txBody>
        </p:sp>
        <p:sp>
          <p:nvSpPr>
            <p:cNvPr id="35854" name="Text Box 14">
              <a:extLst>
                <a:ext uri="{FF2B5EF4-FFF2-40B4-BE49-F238E27FC236}">
                  <a16:creationId xmlns:a16="http://schemas.microsoft.com/office/drawing/2014/main" id="{BA5DF1AF-7857-0E44-F7BE-E75B34BAF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996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55" name="Text Box 15">
              <a:extLst>
                <a:ext uri="{FF2B5EF4-FFF2-40B4-BE49-F238E27FC236}">
                  <a16:creationId xmlns:a16="http://schemas.microsoft.com/office/drawing/2014/main" id="{F6E7F316-DC1D-31BB-C27A-E3E418995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3" y="2380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56" name="Text Box 16">
              <a:extLst>
                <a:ext uri="{FF2B5EF4-FFF2-40B4-BE49-F238E27FC236}">
                  <a16:creationId xmlns:a16="http://schemas.microsoft.com/office/drawing/2014/main" id="{82665848-2C9E-0C0B-569D-75F4B51BB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3" y="2717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57" name="Text Box 17">
              <a:extLst>
                <a:ext uri="{FF2B5EF4-FFF2-40B4-BE49-F238E27FC236}">
                  <a16:creationId xmlns:a16="http://schemas.microsoft.com/office/drawing/2014/main" id="{9B93BD17-F1E8-CA15-F4DA-36A289684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3100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58" name="Text Box 18">
              <a:extLst>
                <a:ext uri="{FF2B5EF4-FFF2-40B4-BE49-F238E27FC236}">
                  <a16:creationId xmlns:a16="http://schemas.microsoft.com/office/drawing/2014/main" id="{CCA4F13F-866E-CEC6-22AF-67C9784E5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" y="2976"/>
              <a:ext cx="290" cy="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59" name="Text Box 19">
              <a:extLst>
                <a:ext uri="{FF2B5EF4-FFF2-40B4-BE49-F238E27FC236}">
                  <a16:creationId xmlns:a16="http://schemas.microsoft.com/office/drawing/2014/main" id="{4532F780-7ED8-CF33-5ED6-874B3F681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196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0" name="Text Box 20">
              <a:extLst>
                <a:ext uri="{FF2B5EF4-FFF2-40B4-BE49-F238E27FC236}">
                  <a16:creationId xmlns:a16="http://schemas.microsoft.com/office/drawing/2014/main" id="{23EB3825-7649-DBC5-736B-928E93F02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" y="3072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1" name="Text Box 21">
              <a:extLst>
                <a:ext uri="{FF2B5EF4-FFF2-40B4-BE49-F238E27FC236}">
                  <a16:creationId xmlns:a16="http://schemas.microsoft.com/office/drawing/2014/main" id="{602BFAC9-F4E3-4C85-A3AC-15C843F07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" y="3169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2" name="Text Box 22">
              <a:extLst>
                <a:ext uri="{FF2B5EF4-FFF2-40B4-BE49-F238E27FC236}">
                  <a16:creationId xmlns:a16="http://schemas.microsoft.com/office/drawing/2014/main" id="{729CFAE1-D410-7C7B-9607-9EF35F80C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736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3" name="Text Box 23">
              <a:extLst>
                <a:ext uri="{FF2B5EF4-FFF2-40B4-BE49-F238E27FC236}">
                  <a16:creationId xmlns:a16="http://schemas.microsoft.com/office/drawing/2014/main" id="{F0D50324-D038-E07D-4C7D-73DF82309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1" y="2400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4" name="Text Box 24">
              <a:extLst>
                <a:ext uri="{FF2B5EF4-FFF2-40B4-BE49-F238E27FC236}">
                  <a16:creationId xmlns:a16="http://schemas.microsoft.com/office/drawing/2014/main" id="{516C08A6-1F85-D2E9-320F-DE2EA943A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9" y="1968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5" name="Text Box 25">
              <a:extLst>
                <a:ext uri="{FF2B5EF4-FFF2-40B4-BE49-F238E27FC236}">
                  <a16:creationId xmlns:a16="http://schemas.microsoft.com/office/drawing/2014/main" id="{F31C1E74-F3E5-E38F-3ED1-821B4EC5B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487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6" name="Text Box 26">
              <a:extLst>
                <a:ext uri="{FF2B5EF4-FFF2-40B4-BE49-F238E27FC236}">
                  <a16:creationId xmlns:a16="http://schemas.microsoft.com/office/drawing/2014/main" id="{3EA438A1-50C7-4279-91C5-7F107D738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" y="1660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7" name="Text Box 27">
              <a:extLst>
                <a:ext uri="{FF2B5EF4-FFF2-40B4-BE49-F238E27FC236}">
                  <a16:creationId xmlns:a16="http://schemas.microsoft.com/office/drawing/2014/main" id="{246DA1A6-64FA-0E79-5AAB-7E8C1B6B0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9" y="1392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8" name="Text Box 28">
              <a:extLst>
                <a:ext uri="{FF2B5EF4-FFF2-40B4-BE49-F238E27FC236}">
                  <a16:creationId xmlns:a16="http://schemas.microsoft.com/office/drawing/2014/main" id="{FD47AF07-ADE5-12B4-9B4F-8F1BD98E9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1660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5869" name="Text Box 29">
              <a:extLst>
                <a:ext uri="{FF2B5EF4-FFF2-40B4-BE49-F238E27FC236}">
                  <a16:creationId xmlns:a16="http://schemas.microsoft.com/office/drawing/2014/main" id="{98A72D07-F354-73AB-1CC6-A39EF7CF4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3" y="1392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dirty="0"/>
                <a:t>O</a:t>
              </a:r>
              <a:endParaRPr lang="en-US" altLang="en-US" dirty="0">
                <a:latin typeface="Times" panose="02020603050405020304" pitchFamily="18" charset="0"/>
              </a:endParaRPr>
            </a:p>
          </p:txBody>
        </p:sp>
        <p:sp>
          <p:nvSpPr>
            <p:cNvPr id="35870" name="Text Box 30">
              <a:extLst>
                <a:ext uri="{FF2B5EF4-FFF2-40B4-BE49-F238E27FC236}">
                  <a16:creationId xmlns:a16="http://schemas.microsoft.com/office/drawing/2014/main" id="{57C5751D-12CC-94BE-BC65-9C02426D0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1344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dirty="0"/>
                <a:t>O</a:t>
              </a:r>
              <a:endParaRPr lang="en-US" altLang="en-US" dirty="0">
                <a:latin typeface="Times" panose="02020603050405020304" pitchFamily="18" charset="0"/>
              </a:endParaRPr>
            </a:p>
          </p:txBody>
        </p:sp>
        <p:sp>
          <p:nvSpPr>
            <p:cNvPr id="35871" name="Text Box 31">
              <a:extLst>
                <a:ext uri="{FF2B5EF4-FFF2-40B4-BE49-F238E27FC236}">
                  <a16:creationId xmlns:a16="http://schemas.microsoft.com/office/drawing/2014/main" id="{FAAD4261-1FD6-5E7B-E580-0095D6A95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536"/>
              <a:ext cx="57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3600" dirty="0"/>
                <a:t>O</a:t>
              </a:r>
              <a:endParaRPr lang="en-US" altLang="en-US" dirty="0">
                <a:latin typeface="Times" panose="02020603050405020304" pitchFamily="18" charset="0"/>
              </a:endParaRPr>
            </a:p>
          </p:txBody>
        </p:sp>
      </p:grpSp>
      <p:grpSp>
        <p:nvGrpSpPr>
          <p:cNvPr id="35873" name="Group 33">
            <a:extLst>
              <a:ext uri="{FF2B5EF4-FFF2-40B4-BE49-F238E27FC236}">
                <a16:creationId xmlns:a16="http://schemas.microsoft.com/office/drawing/2014/main" id="{323CE333-4ED7-F78A-F493-01ECD6E72FFD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743201"/>
            <a:ext cx="3359150" cy="3446463"/>
            <a:chOff x="384" y="1728"/>
            <a:chExt cx="2116" cy="2171"/>
          </a:xfrm>
        </p:grpSpPr>
        <p:pic>
          <p:nvPicPr>
            <p:cNvPr id="35874" name="Picture 34">
              <a:extLst>
                <a:ext uri="{FF2B5EF4-FFF2-40B4-BE49-F238E27FC236}">
                  <a16:creationId xmlns:a16="http://schemas.microsoft.com/office/drawing/2014/main" id="{E1E7E4DB-2DC8-CBC4-7B48-76B80778A1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50" r="10806"/>
            <a:stretch>
              <a:fillRect/>
            </a:stretch>
          </p:blipFill>
          <p:spPr bwMode="auto">
            <a:xfrm>
              <a:off x="384" y="1728"/>
              <a:ext cx="2064" cy="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5875" name="Text Box 35">
              <a:extLst>
                <a:ext uri="{FF2B5EF4-FFF2-40B4-BE49-F238E27FC236}">
                  <a16:creationId xmlns:a16="http://schemas.microsoft.com/office/drawing/2014/main" id="{CE849756-42BB-28E0-A034-D52EF7AC7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744"/>
              <a:ext cx="2068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>
                  <a:solidFill>
                    <a:schemeClr val="bg2"/>
                  </a:solidFill>
                  <a:latin typeface="Palatino" pitchFamily="18" charset="0"/>
                </a:rPr>
                <a:t>Image from http://www.atrandomresearch.com/iclass/</a:t>
              </a:r>
            </a:p>
          </p:txBody>
        </p:sp>
      </p:grp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8EB1C47-2D20-6DFA-968D-9BBBEBB8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7198807-CCBB-9BEC-99DC-FB6760B2F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0835" y="2379471"/>
            <a:ext cx="4351023" cy="2283824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Kernel Methods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AC97DC9-FAE0-F865-F0DC-6FBC8B61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D91DC75-4122-1AC9-2815-F89FE5A7FD5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When Linear Separators Fail</a:t>
            </a:r>
          </a:p>
        </p:txBody>
      </p:sp>
      <p:sp>
        <p:nvSpPr>
          <p:cNvPr id="37893" name="Line 5">
            <a:extLst>
              <a:ext uri="{FF2B5EF4-FFF2-40B4-BE49-F238E27FC236}">
                <a16:creationId xmlns:a16="http://schemas.microsoft.com/office/drawing/2014/main" id="{F26A98F2-DB4D-D258-A803-776376CC508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19500" y="2628900"/>
            <a:ext cx="0" cy="2667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6E204FCB-D5E8-1347-5476-712C3EF2F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3733800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C139D1B3-463F-CA3D-D610-B990E3A28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733800"/>
            <a:ext cx="3850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O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954CD2DC-443C-292E-B1B0-C292794CB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3733800"/>
            <a:ext cx="3850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O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37897" name="Text Box 9">
            <a:extLst>
              <a:ext uri="{FF2B5EF4-FFF2-40B4-BE49-F238E27FC236}">
                <a16:creationId xmlns:a16="http://schemas.microsoft.com/office/drawing/2014/main" id="{24AD86B6-FB20-7945-EE65-59C4A861F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733800"/>
            <a:ext cx="3850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O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37898" name="Text Box 10">
            <a:extLst>
              <a:ext uri="{FF2B5EF4-FFF2-40B4-BE49-F238E27FC236}">
                <a16:creationId xmlns:a16="http://schemas.microsoft.com/office/drawing/2014/main" id="{009B582A-8D9A-FDC2-474D-01A6BE5D8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733800"/>
            <a:ext cx="3850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O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37899" name="Text Box 11">
            <a:extLst>
              <a:ext uri="{FF2B5EF4-FFF2-40B4-BE49-F238E27FC236}">
                <a16:creationId xmlns:a16="http://schemas.microsoft.com/office/drawing/2014/main" id="{3736ABAE-AE38-38C6-4FD7-CA92927E4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488" y="3733800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37900" name="Text Box 12">
            <a:extLst>
              <a:ext uri="{FF2B5EF4-FFF2-40B4-BE49-F238E27FC236}">
                <a16:creationId xmlns:a16="http://schemas.microsoft.com/office/drawing/2014/main" id="{0FCA885B-07F6-03C4-68F1-3631EC27E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733800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37901" name="Text Box 13">
            <a:extLst>
              <a:ext uri="{FF2B5EF4-FFF2-40B4-BE49-F238E27FC236}">
                <a16:creationId xmlns:a16="http://schemas.microsoft.com/office/drawing/2014/main" id="{19D6F0F1-6FE0-04C1-558B-953D3C313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733800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37913" name="Line 25">
            <a:extLst>
              <a:ext uri="{FF2B5EF4-FFF2-40B4-BE49-F238E27FC236}">
                <a16:creationId xmlns:a16="http://schemas.microsoft.com/office/drawing/2014/main" id="{176394A7-3CB9-F6C0-3B7D-2C531307E6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581400"/>
            <a:ext cx="3124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37915" name="Text Box 27">
            <a:extLst>
              <a:ext uri="{FF2B5EF4-FFF2-40B4-BE49-F238E27FC236}">
                <a16:creationId xmlns:a16="http://schemas.microsoft.com/office/drawing/2014/main" id="{A3BA2C89-7124-61CD-6913-336B4D391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3488" y="3700463"/>
            <a:ext cx="3802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Palatino" pitchFamily="18" charset="0"/>
              </a:rPr>
              <a:t>x</a:t>
            </a:r>
            <a:r>
              <a:rPr lang="en-US" altLang="en-US" baseline="-25000">
                <a:latin typeface="Palatino" pitchFamily="18" charset="0"/>
              </a:rPr>
              <a:t>1</a:t>
            </a:r>
            <a:endParaRPr lang="en-US" altLang="en-US">
              <a:latin typeface="Palatino" pitchFamily="18" charset="0"/>
            </a:endParaRPr>
          </a:p>
        </p:txBody>
      </p:sp>
      <p:grpSp>
        <p:nvGrpSpPr>
          <p:cNvPr id="37921" name="Group 33">
            <a:extLst>
              <a:ext uri="{FF2B5EF4-FFF2-40B4-BE49-F238E27FC236}">
                <a16:creationId xmlns:a16="http://schemas.microsoft.com/office/drawing/2014/main" id="{5CAAE543-24CE-0684-BF60-F14913E6C0B7}"/>
              </a:ext>
            </a:extLst>
          </p:cNvPr>
          <p:cNvGrpSpPr>
            <a:grpSpLocks/>
          </p:cNvGrpSpPr>
          <p:nvPr/>
        </p:nvGrpSpPr>
        <p:grpSpPr bwMode="auto">
          <a:xfrm>
            <a:off x="6629401" y="2590801"/>
            <a:ext cx="2778125" cy="1512888"/>
            <a:chOff x="3216" y="1632"/>
            <a:chExt cx="1750" cy="953"/>
          </a:xfrm>
        </p:grpSpPr>
        <p:sp>
          <p:nvSpPr>
            <p:cNvPr id="37905" name="Text Box 17">
              <a:extLst>
                <a:ext uri="{FF2B5EF4-FFF2-40B4-BE49-F238E27FC236}">
                  <a16:creationId xmlns:a16="http://schemas.microsoft.com/office/drawing/2014/main" id="{2E7C20CF-1001-076C-5C1C-B3D6A8E6C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9" y="196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7906" name="Text Box 18">
              <a:extLst>
                <a:ext uri="{FF2B5EF4-FFF2-40B4-BE49-F238E27FC236}">
                  <a16:creationId xmlns:a16="http://schemas.microsoft.com/office/drawing/2014/main" id="{1BA35545-7CC9-6690-D665-9F2802198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352"/>
              <a:ext cx="2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7907" name="Text Box 19">
              <a:extLst>
                <a:ext uri="{FF2B5EF4-FFF2-40B4-BE49-F238E27FC236}">
                  <a16:creationId xmlns:a16="http://schemas.microsoft.com/office/drawing/2014/main" id="{230EDAC7-4B6D-A82C-22AD-BD7BE57CF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" y="2256"/>
              <a:ext cx="2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7908" name="Text Box 20">
              <a:extLst>
                <a:ext uri="{FF2B5EF4-FFF2-40B4-BE49-F238E27FC236}">
                  <a16:creationId xmlns:a16="http://schemas.microsoft.com/office/drawing/2014/main" id="{161FAE44-882B-99C0-EA2E-397C8BEBD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352"/>
              <a:ext cx="2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7909" name="Text Box 21">
              <a:extLst>
                <a:ext uri="{FF2B5EF4-FFF2-40B4-BE49-F238E27FC236}">
                  <a16:creationId xmlns:a16="http://schemas.microsoft.com/office/drawing/2014/main" id="{13DAFD31-441E-D308-B906-58CCAD7E7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256"/>
              <a:ext cx="2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O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7910" name="Text Box 22">
              <a:extLst>
                <a:ext uri="{FF2B5EF4-FFF2-40B4-BE49-F238E27FC236}">
                  <a16:creationId xmlns:a16="http://schemas.microsoft.com/office/drawing/2014/main" id="{8FDF979B-AF55-2C7E-2988-352DA1B91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1" y="1632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7911" name="Text Box 23">
              <a:extLst>
                <a:ext uri="{FF2B5EF4-FFF2-40B4-BE49-F238E27FC236}">
                  <a16:creationId xmlns:a16="http://schemas.microsoft.com/office/drawing/2014/main" id="{67B6E386-5E61-439C-4DF0-F1E4CDEEE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96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  <p:sp>
          <p:nvSpPr>
            <p:cNvPr id="37912" name="Text Box 24">
              <a:extLst>
                <a:ext uri="{FF2B5EF4-FFF2-40B4-BE49-F238E27FC236}">
                  <a16:creationId xmlns:a16="http://schemas.microsoft.com/office/drawing/2014/main" id="{DB2730DE-4EB8-55C0-2747-EEDE9F240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X</a:t>
              </a:r>
              <a:endParaRPr lang="en-US" altLang="en-US">
                <a:latin typeface="Times" panose="02020603050405020304" pitchFamily="18" charset="0"/>
              </a:endParaRPr>
            </a:p>
          </p:txBody>
        </p:sp>
      </p:grpSp>
      <p:grpSp>
        <p:nvGrpSpPr>
          <p:cNvPr id="37920" name="Group 32">
            <a:extLst>
              <a:ext uri="{FF2B5EF4-FFF2-40B4-BE49-F238E27FC236}">
                <a16:creationId xmlns:a16="http://schemas.microsoft.com/office/drawing/2014/main" id="{86AADE79-0132-34A0-613D-6DC134767274}"/>
              </a:ext>
            </a:extLst>
          </p:cNvPr>
          <p:cNvGrpSpPr>
            <a:grpSpLocks/>
          </p:cNvGrpSpPr>
          <p:nvPr/>
        </p:nvGrpSpPr>
        <p:grpSpPr bwMode="auto">
          <a:xfrm>
            <a:off x="6705602" y="2232026"/>
            <a:ext cx="3084513" cy="3101975"/>
            <a:chOff x="3264" y="1406"/>
            <a:chExt cx="1943" cy="1954"/>
          </a:xfrm>
        </p:grpSpPr>
        <p:sp>
          <p:nvSpPr>
            <p:cNvPr id="37903" name="Line 15">
              <a:extLst>
                <a:ext uri="{FF2B5EF4-FFF2-40B4-BE49-F238E27FC236}">
                  <a16:creationId xmlns:a16="http://schemas.microsoft.com/office/drawing/2014/main" id="{CEC0AD83-9E70-1A16-1D85-339D621C5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1680"/>
              <a:ext cx="0" cy="1680"/>
            </a:xfrm>
            <a:prstGeom prst="line">
              <a:avLst/>
            </a:prstGeom>
            <a:noFill/>
            <a:ln w="22225">
              <a:solidFill>
                <a:srgbClr val="202C8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04" name="Line 16">
              <a:extLst>
                <a:ext uri="{FF2B5EF4-FFF2-40B4-BE49-F238E27FC236}">
                  <a16:creationId xmlns:a16="http://schemas.microsoft.com/office/drawing/2014/main" id="{E31B82BB-373C-AA0D-35F2-2F9645C884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04" y="1656"/>
              <a:ext cx="0" cy="1680"/>
            </a:xfrm>
            <a:prstGeom prst="line">
              <a:avLst/>
            </a:prstGeom>
            <a:noFill/>
            <a:ln w="22225">
              <a:solidFill>
                <a:srgbClr val="202C8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917" name="Text Box 29">
              <a:extLst>
                <a:ext uri="{FF2B5EF4-FFF2-40B4-BE49-F238E27FC236}">
                  <a16:creationId xmlns:a16="http://schemas.microsoft.com/office/drawing/2014/main" id="{AAA029F5-BF4D-A219-7F0F-778205DBE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2331"/>
              <a:ext cx="240" cy="233"/>
            </a:xfrm>
            <a:prstGeom prst="rect">
              <a:avLst/>
            </a:prstGeom>
            <a:noFill/>
            <a:ln w="22225">
              <a:solidFill>
                <a:srgbClr val="202C8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Palatino" pitchFamily="18" charset="0"/>
                </a:rPr>
                <a:t>x</a:t>
              </a:r>
              <a:r>
                <a:rPr lang="en-US" altLang="en-US" baseline="-25000">
                  <a:latin typeface="Palatino" pitchFamily="18" charset="0"/>
                </a:rPr>
                <a:t>1</a:t>
              </a:r>
              <a:endParaRPr lang="en-US" altLang="en-US">
                <a:latin typeface="Palatino" pitchFamily="18" charset="0"/>
              </a:endParaRPr>
            </a:p>
          </p:txBody>
        </p:sp>
        <p:sp>
          <p:nvSpPr>
            <p:cNvPr id="37918" name="Text Box 30">
              <a:extLst>
                <a:ext uri="{FF2B5EF4-FFF2-40B4-BE49-F238E27FC236}">
                  <a16:creationId xmlns:a16="http://schemas.microsoft.com/office/drawing/2014/main" id="{A9D78DE1-F9B5-A6FD-CAA4-71C6AEF84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" y="1406"/>
              <a:ext cx="240" cy="233"/>
            </a:xfrm>
            <a:prstGeom prst="rect">
              <a:avLst/>
            </a:prstGeom>
            <a:noFill/>
            <a:ln w="22225">
              <a:solidFill>
                <a:srgbClr val="202C8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>
                  <a:latin typeface="Palatino" pitchFamily="18" charset="0"/>
                </a:rPr>
                <a:t>x</a:t>
              </a:r>
              <a:r>
                <a:rPr lang="en-US" altLang="en-US" baseline="-25000" dirty="0">
                  <a:latin typeface="Palatino" pitchFamily="18" charset="0"/>
                </a:rPr>
                <a:t>2</a:t>
              </a:r>
              <a:endParaRPr lang="en-US" altLang="en-US" dirty="0">
                <a:latin typeface="Palatino" pitchFamily="18" charset="0"/>
              </a:endParaRPr>
            </a:p>
          </p:txBody>
        </p:sp>
      </p:grpSp>
      <p:sp>
        <p:nvSpPr>
          <p:cNvPr id="37922" name="Oval 34">
            <a:extLst>
              <a:ext uri="{FF2B5EF4-FFF2-40B4-BE49-F238E27FC236}">
                <a16:creationId xmlns:a16="http://schemas.microsoft.com/office/drawing/2014/main" id="{9340530E-1A1F-2499-CDD9-EF621EF44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1" y="3635375"/>
            <a:ext cx="1414463" cy="685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grpSp>
        <p:nvGrpSpPr>
          <p:cNvPr id="7" name="Group 32">
            <a:extLst>
              <a:ext uri="{FF2B5EF4-FFF2-40B4-BE49-F238E27FC236}">
                <a16:creationId xmlns:a16="http://schemas.microsoft.com/office/drawing/2014/main" id="{73EDE19A-A126-6D8B-E31C-4C838BF9D10F}"/>
              </a:ext>
            </a:extLst>
          </p:cNvPr>
          <p:cNvGrpSpPr>
            <a:grpSpLocks/>
          </p:cNvGrpSpPr>
          <p:nvPr/>
        </p:nvGrpSpPr>
        <p:grpSpPr bwMode="auto">
          <a:xfrm>
            <a:off x="2344739" y="2232026"/>
            <a:ext cx="3084513" cy="3101975"/>
            <a:chOff x="3264" y="1406"/>
            <a:chExt cx="1943" cy="1954"/>
          </a:xfrm>
        </p:grpSpPr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B905CD04-7AF5-3C04-A549-393F8339F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1680"/>
              <a:ext cx="0" cy="1680"/>
            </a:xfrm>
            <a:prstGeom prst="line">
              <a:avLst/>
            </a:prstGeom>
            <a:noFill/>
            <a:ln w="22225">
              <a:solidFill>
                <a:srgbClr val="202C8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9" name="Line 16">
              <a:extLst>
                <a:ext uri="{FF2B5EF4-FFF2-40B4-BE49-F238E27FC236}">
                  <a16:creationId xmlns:a16="http://schemas.microsoft.com/office/drawing/2014/main" id="{44AA0B11-27F0-BE31-E6B9-8CDBBD934D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04" y="1656"/>
              <a:ext cx="0" cy="1680"/>
            </a:xfrm>
            <a:prstGeom prst="line">
              <a:avLst/>
            </a:prstGeom>
            <a:noFill/>
            <a:ln w="22225">
              <a:solidFill>
                <a:srgbClr val="202C8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0" name="Text Box 29">
              <a:extLst>
                <a:ext uri="{FF2B5EF4-FFF2-40B4-BE49-F238E27FC236}">
                  <a16:creationId xmlns:a16="http://schemas.microsoft.com/office/drawing/2014/main" id="{348EFF29-373D-1DE6-E9C8-57A94B1F6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2331"/>
              <a:ext cx="240" cy="233"/>
            </a:xfrm>
            <a:prstGeom prst="rect">
              <a:avLst/>
            </a:prstGeom>
            <a:noFill/>
            <a:ln w="22225">
              <a:solidFill>
                <a:srgbClr val="202C8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Palatino" pitchFamily="18" charset="0"/>
                </a:rPr>
                <a:t>x</a:t>
              </a:r>
              <a:r>
                <a:rPr lang="en-US" altLang="en-US" baseline="-25000">
                  <a:latin typeface="Palatino" pitchFamily="18" charset="0"/>
                </a:rPr>
                <a:t>1</a:t>
              </a:r>
              <a:endParaRPr lang="en-US" altLang="en-US">
                <a:latin typeface="Palatino" pitchFamily="18" charset="0"/>
              </a:endParaRPr>
            </a:p>
          </p:txBody>
        </p:sp>
        <p:sp>
          <p:nvSpPr>
            <p:cNvPr id="11" name="Text Box 30">
              <a:extLst>
                <a:ext uri="{FF2B5EF4-FFF2-40B4-BE49-F238E27FC236}">
                  <a16:creationId xmlns:a16="http://schemas.microsoft.com/office/drawing/2014/main" id="{52874FA9-5B79-AB5F-65E0-9341985BF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" y="1406"/>
              <a:ext cx="240" cy="233"/>
            </a:xfrm>
            <a:prstGeom prst="rect">
              <a:avLst/>
            </a:prstGeom>
            <a:noFill/>
            <a:ln w="22225">
              <a:solidFill>
                <a:srgbClr val="202C8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>
                  <a:latin typeface="Palatino" pitchFamily="18" charset="0"/>
                </a:rPr>
                <a:t>x</a:t>
              </a:r>
              <a:r>
                <a:rPr lang="en-US" altLang="en-US" baseline="-25000" dirty="0">
                  <a:latin typeface="Palatino" pitchFamily="18" charset="0"/>
                </a:rPr>
                <a:t>2</a:t>
              </a:r>
              <a:endParaRPr lang="en-US" altLang="en-US" dirty="0">
                <a:latin typeface="Palatino" pitchFamily="18" charset="0"/>
              </a:endParaRPr>
            </a:p>
          </p:txBody>
        </p:sp>
      </p:grp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C70ABDAA-A277-0A11-B2FA-05F7ED79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036D85B-E4B9-AABF-EBBA-D8DF2F40917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028700" y="666750"/>
            <a:ext cx="9991725" cy="1143000"/>
          </a:xfrm>
        </p:spPr>
        <p:txBody>
          <a:bodyPr/>
          <a:lstStyle/>
          <a:p>
            <a:r>
              <a:rPr lang="en-US" altLang="en-US" sz="4000" dirty="0"/>
              <a:t>Mapping into a New Feature Space</a:t>
            </a:r>
            <a:endParaRPr lang="en-US" altLang="en-US" sz="4800" dirty="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B58A9C2-98E2-5DEE-17B2-AA1079913E7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1909761" y="4301331"/>
            <a:ext cx="8672514" cy="217566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Rather than run SVM on x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, run it on </a:t>
            </a:r>
            <a:r>
              <a:rPr lang="en-US" altLang="en-US" sz="2800" dirty="0">
                <a:sym typeface="Symbol" panose="05050102010706020507" pitchFamily="18" charset="2"/>
              </a:rPr>
              <a:t></a:t>
            </a:r>
            <a:r>
              <a:rPr lang="en-US" altLang="en-US" sz="2800" dirty="0"/>
              <a:t>(x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Find non-linear separator in input space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What if </a:t>
            </a:r>
            <a:r>
              <a:rPr lang="en-US" altLang="en-US" sz="2800" dirty="0">
                <a:sym typeface="Symbol" panose="05050102010706020507" pitchFamily="18" charset="2"/>
              </a:rPr>
              <a:t></a:t>
            </a:r>
            <a:r>
              <a:rPr lang="en-US" altLang="en-US" sz="2800" dirty="0"/>
              <a:t>(x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) is really big?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Use kernels to compute it implicitly!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hlinkClick r:id="rId3"/>
              </a:rPr>
              <a:t>https://www.youtube.com/watch?v=3liCbRZPrZA</a:t>
            </a: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>
                <a:hlinkClick r:id="rId4"/>
              </a:rPr>
              <a:t>https://www.youtube.com/watch?v=_YPScrckx28</a:t>
            </a:r>
            <a:endParaRPr lang="en-US" altLang="en-US" sz="2800" dirty="0"/>
          </a:p>
          <a:p>
            <a:pPr>
              <a:lnSpc>
                <a:spcPct val="90000"/>
              </a:lnSpc>
            </a:pPr>
            <a:endParaRPr lang="en-US" altLang="en-US" sz="2800" dirty="0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78125164-42C8-F9BC-0BB6-EFBE58B17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4" y="3520281"/>
            <a:ext cx="3176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  <a:sym typeface="Symbol" panose="05050102010706020507" pitchFamily="18" charset="2"/>
              </a:rPr>
              <a:t>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 : x 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 X = 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  <a:sym typeface="Symbol" panose="05050102010706020507" pitchFamily="18" charset="2"/>
              </a:rPr>
              <a:t>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(x)</a:t>
            </a: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862FB2E1-95B6-03BC-4690-3D011E116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1" y="3520281"/>
            <a:ext cx="516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  <a:sym typeface="Symbol" panose="05050102010706020507" pitchFamily="18" charset="2"/>
              </a:rPr>
              <a:t>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(x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1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,x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2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) = (x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1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,x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2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,x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1</a:t>
            </a:r>
            <a:r>
              <a:rPr lang="en-US" altLang="en-US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2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,x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2</a:t>
            </a:r>
            <a:r>
              <a:rPr lang="en-US" altLang="en-US" sz="3200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2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,x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1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x</a:t>
            </a:r>
            <a:r>
              <a:rPr lang="en-US" altLang="en-US" sz="3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2</a:t>
            </a: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Palatino" pitchFamily="18" charset="0"/>
              </a:rPr>
              <a:t>)</a:t>
            </a:r>
          </a:p>
        </p:txBody>
      </p:sp>
      <p:pic>
        <p:nvPicPr>
          <p:cNvPr id="38919" name="Picture 7">
            <a:extLst>
              <a:ext uri="{FF2B5EF4-FFF2-40B4-BE49-F238E27FC236}">
                <a16:creationId xmlns:a16="http://schemas.microsoft.com/office/drawing/2014/main" id="{E68A165B-5A93-2C91-1737-783DBBF8F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924" y="1539875"/>
            <a:ext cx="664527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058CD53-453F-D3D3-CDC1-226FCD0D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390DDDC-EA68-7C65-4E48-4C481C4CF12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Kernels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F9EB335-D661-E241-E62A-C8A3912E134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Find kernel K such that</a:t>
            </a:r>
          </a:p>
          <a:p>
            <a:pPr lvl="1"/>
            <a:r>
              <a:rPr lang="en-US" altLang="en-US"/>
              <a:t>K(x</a:t>
            </a:r>
            <a:r>
              <a:rPr lang="en-US" altLang="en-US" baseline="-25000"/>
              <a:t>1</a:t>
            </a:r>
            <a:r>
              <a:rPr lang="en-US" altLang="en-US"/>
              <a:t>,x</a:t>
            </a:r>
            <a:r>
              <a:rPr lang="en-US" altLang="en-US" baseline="-25000"/>
              <a:t>2</a:t>
            </a:r>
            <a:r>
              <a:rPr lang="en-US" altLang="en-US"/>
              <a:t>) = &lt; </a:t>
            </a:r>
            <a:r>
              <a:rPr lang="en-US" altLang="en-US">
                <a:sym typeface="Symbol" panose="05050102010706020507" pitchFamily="18" charset="2"/>
              </a:rPr>
              <a:t></a:t>
            </a:r>
            <a:r>
              <a:rPr lang="en-US" altLang="en-US"/>
              <a:t>(x</a:t>
            </a:r>
            <a:r>
              <a:rPr lang="en-US" altLang="en-US" baseline="-25000"/>
              <a:t>1</a:t>
            </a:r>
            <a:r>
              <a:rPr lang="en-US" altLang="en-US"/>
              <a:t>), </a:t>
            </a:r>
            <a:r>
              <a:rPr lang="en-US" altLang="en-US">
                <a:sym typeface="Symbol" panose="05050102010706020507" pitchFamily="18" charset="2"/>
              </a:rPr>
              <a:t></a:t>
            </a:r>
            <a:r>
              <a:rPr lang="en-US" altLang="en-US"/>
              <a:t>(x</a:t>
            </a:r>
            <a:r>
              <a:rPr lang="en-US" altLang="en-US" baseline="-25000"/>
              <a:t>2</a:t>
            </a:r>
            <a:r>
              <a:rPr lang="en-US" altLang="en-US"/>
              <a:t>)&gt;</a:t>
            </a:r>
          </a:p>
          <a:p>
            <a:r>
              <a:rPr lang="en-US" altLang="en-US"/>
              <a:t>Computing K(x</a:t>
            </a:r>
            <a:r>
              <a:rPr lang="en-US" altLang="en-US" baseline="-25000"/>
              <a:t>1</a:t>
            </a:r>
            <a:r>
              <a:rPr lang="en-US" altLang="en-US"/>
              <a:t>,x</a:t>
            </a:r>
            <a:r>
              <a:rPr lang="en-US" altLang="en-US" baseline="-25000"/>
              <a:t>2</a:t>
            </a:r>
            <a:r>
              <a:rPr lang="en-US" altLang="en-US"/>
              <a:t>) should be efficient, much more so than computing </a:t>
            </a:r>
            <a:r>
              <a:rPr lang="en-US" altLang="en-US">
                <a:sym typeface="Symbol" panose="05050102010706020507" pitchFamily="18" charset="2"/>
              </a:rPr>
              <a:t></a:t>
            </a:r>
            <a:r>
              <a:rPr lang="en-US" altLang="en-US"/>
              <a:t>(x</a:t>
            </a:r>
            <a:r>
              <a:rPr lang="en-US" altLang="en-US" baseline="-25000"/>
              <a:t>1</a:t>
            </a:r>
            <a:r>
              <a:rPr lang="en-US" altLang="en-US"/>
              <a:t>) and </a:t>
            </a:r>
            <a:r>
              <a:rPr lang="en-US" altLang="en-US">
                <a:sym typeface="Symbol" panose="05050102010706020507" pitchFamily="18" charset="2"/>
              </a:rPr>
              <a:t></a:t>
            </a:r>
            <a:r>
              <a:rPr lang="en-US" altLang="en-US"/>
              <a:t>(x</a:t>
            </a:r>
            <a:r>
              <a:rPr lang="en-US" altLang="en-US" baseline="-25000"/>
              <a:t>2</a:t>
            </a:r>
            <a:r>
              <a:rPr lang="en-US" altLang="en-US"/>
              <a:t>)</a:t>
            </a:r>
          </a:p>
          <a:p>
            <a:r>
              <a:rPr lang="en-US" altLang="en-US"/>
              <a:t>Use K(x</a:t>
            </a:r>
            <a:r>
              <a:rPr lang="en-US" altLang="en-US" baseline="-25000"/>
              <a:t>1</a:t>
            </a:r>
            <a:r>
              <a:rPr lang="en-US" altLang="en-US"/>
              <a:t>,x</a:t>
            </a:r>
            <a:r>
              <a:rPr lang="en-US" altLang="en-US" baseline="-25000"/>
              <a:t>2</a:t>
            </a:r>
            <a:r>
              <a:rPr lang="en-US" altLang="en-US"/>
              <a:t>) in SVM algorithm rather than &lt;x</a:t>
            </a:r>
            <a:r>
              <a:rPr lang="en-US" altLang="en-US" baseline="-25000"/>
              <a:t>1</a:t>
            </a:r>
            <a:r>
              <a:rPr lang="en-US" altLang="en-US"/>
              <a:t>,x</a:t>
            </a:r>
            <a:r>
              <a:rPr lang="en-US" altLang="en-US" baseline="-25000"/>
              <a:t>2</a:t>
            </a:r>
            <a:r>
              <a:rPr lang="en-US" altLang="en-US"/>
              <a:t>&gt;</a:t>
            </a:r>
          </a:p>
          <a:p>
            <a:r>
              <a:rPr lang="en-US" altLang="en-US"/>
              <a:t>Remarkably, this is possible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2A6AD12-BFD5-A27E-F7AF-74FA9900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9E693D8-518E-F876-917F-78398863558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Polynomial Kernel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4F3167F-0C33-A162-129B-D5CBEE6996C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1154953" y="2667000"/>
            <a:ext cx="8763000" cy="5029200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en-US" altLang="en-US" dirty="0"/>
              <a:t>K(x</a:t>
            </a:r>
            <a:r>
              <a:rPr lang="en-US" altLang="en-US" baseline="-25000" dirty="0"/>
              <a:t>1</a:t>
            </a:r>
            <a:r>
              <a:rPr lang="en-US" altLang="en-US" dirty="0"/>
              <a:t>,x</a:t>
            </a:r>
            <a:r>
              <a:rPr lang="en-US" altLang="en-US" baseline="-25000" dirty="0"/>
              <a:t>2</a:t>
            </a:r>
            <a:r>
              <a:rPr lang="en-US" altLang="en-US" dirty="0"/>
              <a:t>) = &lt; x</a:t>
            </a:r>
            <a:r>
              <a:rPr lang="en-US" altLang="en-US" baseline="-25000" dirty="0"/>
              <a:t>1</a:t>
            </a:r>
            <a:r>
              <a:rPr lang="en-US" altLang="en-US" dirty="0"/>
              <a:t>, x</a:t>
            </a:r>
            <a:r>
              <a:rPr lang="en-US" altLang="en-US" baseline="-25000" dirty="0"/>
              <a:t>2 </a:t>
            </a:r>
            <a:r>
              <a:rPr lang="en-US" altLang="en-US" dirty="0"/>
              <a:t>&gt; </a:t>
            </a:r>
            <a:r>
              <a:rPr lang="en-US" altLang="en-US" baseline="30000" dirty="0"/>
              <a:t>2</a:t>
            </a:r>
            <a:endParaRPr lang="en-US" altLang="en-US" dirty="0"/>
          </a:p>
          <a:p>
            <a:pPr lvl="1">
              <a:spcBef>
                <a:spcPct val="30000"/>
              </a:spcBef>
            </a:pPr>
            <a:r>
              <a:rPr lang="en-US" altLang="en-US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 = (x</a:t>
            </a:r>
            <a:r>
              <a:rPr lang="en-US" altLang="en-US" baseline="-25000" dirty="0"/>
              <a:t>11</a:t>
            </a:r>
            <a:r>
              <a:rPr lang="en-US" altLang="en-US" dirty="0"/>
              <a:t>, x</a:t>
            </a:r>
            <a:r>
              <a:rPr lang="en-US" altLang="en-US" baseline="-25000" dirty="0"/>
              <a:t>12</a:t>
            </a:r>
            <a:r>
              <a:rPr lang="en-US" altLang="en-US" dirty="0"/>
              <a:t>)</a:t>
            </a:r>
          </a:p>
          <a:p>
            <a:pPr lvl="1">
              <a:spcBef>
                <a:spcPct val="30000"/>
              </a:spcBef>
            </a:pPr>
            <a:r>
              <a:rPr lang="en-US" altLang="en-US" dirty="0"/>
              <a:t>x</a:t>
            </a:r>
            <a:r>
              <a:rPr lang="en-US" altLang="en-US" baseline="-25000" dirty="0"/>
              <a:t>2</a:t>
            </a:r>
            <a:r>
              <a:rPr lang="en-US" altLang="en-US" dirty="0"/>
              <a:t> = (x</a:t>
            </a:r>
            <a:r>
              <a:rPr lang="en-US" altLang="en-US" baseline="-25000" dirty="0"/>
              <a:t>21</a:t>
            </a:r>
            <a:r>
              <a:rPr lang="en-US" altLang="en-US" dirty="0"/>
              <a:t>, x</a:t>
            </a:r>
            <a:r>
              <a:rPr lang="en-US" altLang="en-US" baseline="-25000" dirty="0"/>
              <a:t>22</a:t>
            </a:r>
            <a:r>
              <a:rPr lang="en-US" altLang="en-US" dirty="0"/>
              <a:t>)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&lt; x</a:t>
            </a:r>
            <a:r>
              <a:rPr lang="en-US" altLang="en-US" baseline="-25000" dirty="0"/>
              <a:t>1</a:t>
            </a:r>
            <a:r>
              <a:rPr lang="en-US" altLang="en-US" dirty="0"/>
              <a:t>, x</a:t>
            </a:r>
            <a:r>
              <a:rPr lang="en-US" altLang="en-US" baseline="-25000" dirty="0"/>
              <a:t>2 </a:t>
            </a:r>
            <a:r>
              <a:rPr lang="en-US" altLang="en-US" dirty="0"/>
              <a:t>&gt; = (x</a:t>
            </a:r>
            <a:r>
              <a:rPr lang="en-US" altLang="en-US" baseline="-25000" dirty="0"/>
              <a:t>11</a:t>
            </a:r>
            <a:r>
              <a:rPr lang="en-US" altLang="en-US" dirty="0"/>
              <a:t>x</a:t>
            </a:r>
            <a:r>
              <a:rPr lang="en-US" altLang="en-US" baseline="-25000" dirty="0"/>
              <a:t>21</a:t>
            </a:r>
            <a:r>
              <a:rPr lang="en-US" altLang="en-US" dirty="0"/>
              <a:t> + x</a:t>
            </a:r>
            <a:r>
              <a:rPr lang="en-US" altLang="en-US" baseline="-25000" dirty="0"/>
              <a:t>12</a:t>
            </a:r>
            <a:r>
              <a:rPr lang="en-US" altLang="en-US" dirty="0"/>
              <a:t>x</a:t>
            </a:r>
            <a:r>
              <a:rPr lang="en-US" altLang="en-US" baseline="-25000" dirty="0"/>
              <a:t>22</a:t>
            </a:r>
            <a:r>
              <a:rPr lang="en-US" altLang="en-US" dirty="0"/>
              <a:t>)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&lt; x</a:t>
            </a:r>
            <a:r>
              <a:rPr lang="en-US" altLang="en-US" baseline="-25000" dirty="0"/>
              <a:t>1</a:t>
            </a:r>
            <a:r>
              <a:rPr lang="en-US" altLang="en-US" dirty="0"/>
              <a:t>, x</a:t>
            </a:r>
            <a:r>
              <a:rPr lang="en-US" altLang="en-US" baseline="-25000" dirty="0"/>
              <a:t>2 </a:t>
            </a:r>
            <a:r>
              <a:rPr lang="en-US" altLang="en-US" dirty="0"/>
              <a:t>&gt; </a:t>
            </a:r>
            <a:r>
              <a:rPr lang="en-US" altLang="en-US" baseline="30000" dirty="0"/>
              <a:t>2</a:t>
            </a:r>
            <a:r>
              <a:rPr lang="en-US" altLang="en-US" dirty="0"/>
              <a:t> = (x</a:t>
            </a:r>
            <a:r>
              <a:rPr lang="en-US" altLang="en-US" baseline="-25000" dirty="0"/>
              <a:t>11</a:t>
            </a:r>
            <a:r>
              <a:rPr lang="en-US" altLang="en-US" baseline="30000" dirty="0"/>
              <a:t>2 </a:t>
            </a:r>
            <a:r>
              <a:rPr lang="en-US" altLang="en-US" dirty="0"/>
              <a:t>x</a:t>
            </a:r>
            <a:r>
              <a:rPr lang="en-US" altLang="en-US" baseline="-25000" dirty="0"/>
              <a:t>21</a:t>
            </a:r>
            <a:r>
              <a:rPr lang="en-US" altLang="en-US" baseline="30000" dirty="0"/>
              <a:t>2</a:t>
            </a:r>
            <a:r>
              <a:rPr lang="en-US" altLang="en-US" dirty="0"/>
              <a:t> + x</a:t>
            </a:r>
            <a:r>
              <a:rPr lang="en-US" altLang="en-US" baseline="-25000" dirty="0"/>
              <a:t>12</a:t>
            </a:r>
            <a:r>
              <a:rPr lang="en-US" altLang="en-US" baseline="30000" dirty="0"/>
              <a:t>2</a:t>
            </a:r>
            <a:r>
              <a:rPr lang="en-US" altLang="en-US" dirty="0"/>
              <a:t>x</a:t>
            </a:r>
            <a:r>
              <a:rPr lang="en-US" altLang="en-US" baseline="-25000" dirty="0"/>
              <a:t>22</a:t>
            </a:r>
            <a:r>
              <a:rPr lang="en-US" altLang="en-US" baseline="30000" dirty="0"/>
              <a:t>2</a:t>
            </a:r>
            <a:r>
              <a:rPr lang="en-US" altLang="en-US" dirty="0"/>
              <a:t> + 2x</a:t>
            </a:r>
            <a:r>
              <a:rPr lang="en-US" altLang="en-US" baseline="-25000" dirty="0"/>
              <a:t>11</a:t>
            </a:r>
            <a:r>
              <a:rPr lang="en-US" altLang="en-US" baseline="30000" dirty="0"/>
              <a:t> </a:t>
            </a:r>
            <a:r>
              <a:rPr lang="en-US" altLang="en-US" dirty="0"/>
              <a:t>x</a:t>
            </a:r>
            <a:r>
              <a:rPr lang="en-US" altLang="en-US" baseline="-25000" dirty="0"/>
              <a:t>12 </a:t>
            </a:r>
            <a:r>
              <a:rPr lang="en-US" altLang="en-US" dirty="0"/>
              <a:t>x</a:t>
            </a:r>
            <a:r>
              <a:rPr lang="en-US" altLang="en-US" baseline="-25000" dirty="0"/>
              <a:t>21</a:t>
            </a:r>
            <a:r>
              <a:rPr lang="en-US" altLang="en-US" baseline="30000" dirty="0"/>
              <a:t> </a:t>
            </a:r>
            <a:r>
              <a:rPr lang="en-US" altLang="en-US" dirty="0"/>
              <a:t>x</a:t>
            </a:r>
            <a:r>
              <a:rPr lang="en-US" altLang="en-US" baseline="-25000" dirty="0"/>
              <a:t>22</a:t>
            </a:r>
            <a:r>
              <a:rPr lang="en-US" altLang="en-US" dirty="0"/>
              <a:t>)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</a:t>
            </a:r>
            <a:r>
              <a:rPr lang="en-US" altLang="en-US" dirty="0"/>
              <a:t>(x</a:t>
            </a:r>
            <a:r>
              <a:rPr lang="en-US" altLang="en-US" baseline="-25000" dirty="0"/>
              <a:t>1</a:t>
            </a:r>
            <a:r>
              <a:rPr lang="en-US" altLang="en-US" dirty="0"/>
              <a:t>) = (x</a:t>
            </a:r>
            <a:r>
              <a:rPr lang="en-US" altLang="en-US" baseline="-25000" dirty="0"/>
              <a:t>11</a:t>
            </a:r>
            <a:r>
              <a:rPr lang="en-US" altLang="en-US" baseline="30000" dirty="0"/>
              <a:t>2</a:t>
            </a:r>
            <a:r>
              <a:rPr lang="en-US" altLang="en-US" dirty="0"/>
              <a:t>, x</a:t>
            </a:r>
            <a:r>
              <a:rPr lang="en-US" altLang="en-US" baseline="-25000" dirty="0"/>
              <a:t>12</a:t>
            </a:r>
            <a:r>
              <a:rPr lang="en-US" altLang="en-US" baseline="30000" dirty="0"/>
              <a:t>2</a:t>
            </a:r>
            <a:r>
              <a:rPr lang="en-US" altLang="en-US" dirty="0"/>
              <a:t>, √2x</a:t>
            </a:r>
            <a:r>
              <a:rPr lang="en-US" altLang="en-US" baseline="-25000" dirty="0"/>
              <a:t>11</a:t>
            </a:r>
            <a:r>
              <a:rPr lang="en-US" altLang="en-US" baseline="30000" dirty="0"/>
              <a:t> </a:t>
            </a:r>
            <a:r>
              <a:rPr lang="en-US" altLang="en-US" dirty="0"/>
              <a:t>x</a:t>
            </a:r>
            <a:r>
              <a:rPr lang="en-US" altLang="en-US" baseline="-25000" dirty="0"/>
              <a:t>12</a:t>
            </a:r>
            <a:r>
              <a:rPr lang="en-US" altLang="en-US" dirty="0"/>
              <a:t>)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</a:t>
            </a:r>
            <a:r>
              <a:rPr lang="en-US" altLang="en-US" dirty="0"/>
              <a:t>(x</a:t>
            </a:r>
            <a:r>
              <a:rPr lang="en-US" altLang="en-US" baseline="-25000" dirty="0"/>
              <a:t>2</a:t>
            </a:r>
            <a:r>
              <a:rPr lang="en-US" altLang="en-US" dirty="0"/>
              <a:t>) = (x</a:t>
            </a:r>
            <a:r>
              <a:rPr lang="en-US" altLang="en-US" baseline="-25000" dirty="0"/>
              <a:t>21</a:t>
            </a:r>
            <a:r>
              <a:rPr lang="en-US" altLang="en-US" baseline="30000" dirty="0"/>
              <a:t>2</a:t>
            </a:r>
            <a:r>
              <a:rPr lang="en-US" altLang="en-US" dirty="0"/>
              <a:t>, x</a:t>
            </a:r>
            <a:r>
              <a:rPr lang="en-US" altLang="en-US" baseline="-25000" dirty="0"/>
              <a:t>22</a:t>
            </a:r>
            <a:r>
              <a:rPr lang="en-US" altLang="en-US" baseline="30000" dirty="0"/>
              <a:t>2</a:t>
            </a:r>
            <a:r>
              <a:rPr lang="en-US" altLang="en-US" dirty="0"/>
              <a:t>, √2x</a:t>
            </a:r>
            <a:r>
              <a:rPr lang="en-US" altLang="en-US" baseline="-25000" dirty="0"/>
              <a:t>21</a:t>
            </a:r>
            <a:r>
              <a:rPr lang="en-US" altLang="en-US" baseline="30000" dirty="0"/>
              <a:t> </a:t>
            </a:r>
            <a:r>
              <a:rPr lang="en-US" altLang="en-US" dirty="0"/>
              <a:t>x</a:t>
            </a:r>
            <a:r>
              <a:rPr lang="en-US" altLang="en-US" baseline="-25000" dirty="0"/>
              <a:t>22</a:t>
            </a:r>
            <a:r>
              <a:rPr lang="en-US" altLang="en-US" dirty="0"/>
              <a:t>)</a:t>
            </a:r>
          </a:p>
          <a:p>
            <a:pPr>
              <a:spcBef>
                <a:spcPct val="30000"/>
              </a:spcBef>
            </a:pPr>
            <a:r>
              <a:rPr lang="en-US" altLang="en-US" dirty="0"/>
              <a:t>K(x</a:t>
            </a:r>
            <a:r>
              <a:rPr lang="en-US" altLang="en-US" baseline="-25000" dirty="0"/>
              <a:t>1</a:t>
            </a:r>
            <a:r>
              <a:rPr lang="en-US" altLang="en-US" dirty="0"/>
              <a:t>,x</a:t>
            </a:r>
            <a:r>
              <a:rPr lang="en-US" altLang="en-US" baseline="-25000" dirty="0"/>
              <a:t>2</a:t>
            </a:r>
            <a:r>
              <a:rPr lang="en-US" altLang="en-US" dirty="0"/>
              <a:t>) = &lt; </a:t>
            </a:r>
            <a:r>
              <a:rPr lang="en-US" altLang="en-US" dirty="0">
                <a:sym typeface="Symbol" panose="05050102010706020507" pitchFamily="18" charset="2"/>
              </a:rPr>
              <a:t></a:t>
            </a:r>
            <a:r>
              <a:rPr lang="en-US" altLang="en-US" dirty="0"/>
              <a:t>(x</a:t>
            </a:r>
            <a:r>
              <a:rPr lang="en-US" altLang="en-US" baseline="-25000" dirty="0"/>
              <a:t>1</a:t>
            </a:r>
            <a:r>
              <a:rPr lang="en-US" altLang="en-US" dirty="0"/>
              <a:t>), </a:t>
            </a:r>
            <a:r>
              <a:rPr lang="en-US" altLang="en-US" dirty="0">
                <a:sym typeface="Symbol" panose="05050102010706020507" pitchFamily="18" charset="2"/>
              </a:rPr>
              <a:t></a:t>
            </a:r>
            <a:r>
              <a:rPr lang="en-US" altLang="en-US" dirty="0"/>
              <a:t>(x</a:t>
            </a:r>
            <a:r>
              <a:rPr lang="en-US" altLang="en-US" baseline="-25000" dirty="0"/>
              <a:t>2</a:t>
            </a:r>
            <a:r>
              <a:rPr lang="en-US" altLang="en-US" dirty="0"/>
              <a:t>)</a:t>
            </a:r>
            <a:r>
              <a:rPr lang="en-US" altLang="en-US" baseline="-25000" dirty="0"/>
              <a:t> </a:t>
            </a:r>
            <a:r>
              <a:rPr lang="en-US" altLang="en-US" dirty="0"/>
              <a:t>&gt;</a:t>
            </a:r>
            <a:endParaRPr lang="en-US" altLang="en-US" baseline="30000" dirty="0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CFB5A406-CA18-1DB9-1CB1-38B288AD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9F765ABF-D700-735F-C212-D19F21B510E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Kernels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EE2C533-C250-04F6-CB50-38A9E1EB149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What does it </a:t>
            </a:r>
            <a:r>
              <a:rPr lang="en-US" altLang="en-US" i="1" dirty="0"/>
              <a:t>mean</a:t>
            </a:r>
            <a:r>
              <a:rPr lang="en-US" altLang="en-US" dirty="0"/>
              <a:t> to be a kernel?</a:t>
            </a:r>
          </a:p>
          <a:p>
            <a:pPr lvl="1"/>
            <a:r>
              <a:rPr lang="en-US" altLang="en-US" dirty="0"/>
              <a:t>K(x</a:t>
            </a:r>
            <a:r>
              <a:rPr lang="en-US" altLang="en-US" baseline="-25000" dirty="0"/>
              <a:t>1</a:t>
            </a:r>
            <a:r>
              <a:rPr lang="en-US" altLang="en-US" dirty="0"/>
              <a:t>,x</a:t>
            </a:r>
            <a:r>
              <a:rPr lang="en-US" altLang="en-US" baseline="-25000" dirty="0"/>
              <a:t>2</a:t>
            </a:r>
            <a:r>
              <a:rPr lang="en-US" altLang="en-US" dirty="0"/>
              <a:t>) = &lt; </a:t>
            </a:r>
            <a:r>
              <a:rPr lang="en-US" altLang="en-US" dirty="0">
                <a:sym typeface="Symbol" panose="05050102010706020507" pitchFamily="18" charset="2"/>
              </a:rPr>
              <a:t></a:t>
            </a:r>
            <a:r>
              <a:rPr lang="en-US" altLang="en-US" dirty="0"/>
              <a:t>(x</a:t>
            </a:r>
            <a:r>
              <a:rPr lang="en-US" altLang="en-US" baseline="-25000" dirty="0"/>
              <a:t>1</a:t>
            </a:r>
            <a:r>
              <a:rPr lang="en-US" altLang="en-US" dirty="0"/>
              <a:t>), </a:t>
            </a:r>
            <a:r>
              <a:rPr lang="en-US" altLang="en-US" dirty="0">
                <a:sym typeface="Symbol" panose="05050102010706020507" pitchFamily="18" charset="2"/>
              </a:rPr>
              <a:t></a:t>
            </a:r>
            <a:r>
              <a:rPr lang="en-US" altLang="en-US" dirty="0"/>
              <a:t>(x</a:t>
            </a:r>
            <a:r>
              <a:rPr lang="en-US" altLang="en-US" baseline="-25000" dirty="0"/>
              <a:t>2</a:t>
            </a:r>
            <a:r>
              <a:rPr lang="en-US" altLang="en-US" dirty="0"/>
              <a:t>) &gt; for some </a:t>
            </a:r>
            <a:r>
              <a:rPr lang="en-US" altLang="en-US" dirty="0">
                <a:sym typeface="Symbol" panose="05050102010706020507" pitchFamily="18" charset="2"/>
              </a:rPr>
              <a:t></a:t>
            </a:r>
            <a:endParaRPr lang="en-US" altLang="en-US" dirty="0"/>
          </a:p>
          <a:p>
            <a:r>
              <a:rPr lang="en-US" altLang="en-US" dirty="0"/>
              <a:t>What does it </a:t>
            </a:r>
            <a:r>
              <a:rPr lang="en-US" altLang="en-US" i="1" dirty="0"/>
              <a:t>take</a:t>
            </a:r>
            <a:r>
              <a:rPr lang="en-US" altLang="en-US" dirty="0"/>
              <a:t> to be a kernel?</a:t>
            </a:r>
          </a:p>
          <a:p>
            <a:pPr lvl="1"/>
            <a:r>
              <a:rPr lang="en-US" altLang="en-US" dirty="0"/>
              <a:t>The Gram matrix </a:t>
            </a:r>
            <a:r>
              <a:rPr lang="en-US" altLang="en-US" dirty="0" err="1"/>
              <a:t>G</a:t>
            </a:r>
            <a:r>
              <a:rPr lang="en-US" altLang="en-US" baseline="-25000" dirty="0" err="1"/>
              <a:t>ij</a:t>
            </a:r>
            <a:r>
              <a:rPr lang="en-US" altLang="en-US" dirty="0"/>
              <a:t> = K(x</a:t>
            </a:r>
            <a:r>
              <a:rPr lang="en-US" altLang="en-US" baseline="-25000" dirty="0"/>
              <a:t>i</a:t>
            </a:r>
            <a:r>
              <a:rPr lang="en-US" altLang="en-US" dirty="0"/>
              <a:t>, </a:t>
            </a:r>
            <a:r>
              <a:rPr lang="en-US" altLang="en-US" dirty="0" err="1"/>
              <a:t>x</a:t>
            </a:r>
            <a:r>
              <a:rPr lang="en-US" altLang="en-US" baseline="-25000" dirty="0" err="1"/>
              <a:t>j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Positive definite matrix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</a:t>
            </a:r>
            <a:r>
              <a:rPr lang="en-US" altLang="en-US" baseline="-25000" dirty="0" err="1"/>
              <a:t>ij</a:t>
            </a:r>
            <a:r>
              <a:rPr lang="en-US" altLang="en-US" dirty="0"/>
              <a:t> c</a:t>
            </a:r>
            <a:r>
              <a:rPr lang="en-US" altLang="en-US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j</a:t>
            </a:r>
            <a:r>
              <a:rPr lang="en-US" altLang="en-US" dirty="0"/>
              <a:t> </a:t>
            </a:r>
            <a:r>
              <a:rPr lang="en-US" altLang="en-US" dirty="0" err="1"/>
              <a:t>G</a:t>
            </a:r>
            <a:r>
              <a:rPr lang="en-US" altLang="en-US" baseline="-25000" dirty="0" err="1"/>
              <a:t>ij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</a:t>
            </a:r>
            <a:r>
              <a:rPr lang="en-US" altLang="en-US" dirty="0"/>
              <a:t> 0 for c</a:t>
            </a:r>
            <a:r>
              <a:rPr lang="en-US" altLang="en-US" baseline="-25000" dirty="0"/>
              <a:t>i,</a:t>
            </a:r>
            <a:r>
              <a:rPr lang="en-US" altLang="en-US" dirty="0"/>
              <a:t> </a:t>
            </a:r>
            <a:r>
              <a:rPr lang="en-US" altLang="en-US" dirty="0" err="1"/>
              <a:t>c</a:t>
            </a:r>
            <a:r>
              <a:rPr lang="en-US" altLang="en-US" baseline="-25000" dirty="0" err="1"/>
              <a:t>j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 </a:t>
            </a:r>
            <a:endParaRPr lang="en-US" altLang="en-US" dirty="0"/>
          </a:p>
          <a:p>
            <a:pPr lvl="1"/>
            <a:r>
              <a:rPr lang="en-US" altLang="en-US" dirty="0"/>
              <a:t>Positive definite kernel</a:t>
            </a:r>
          </a:p>
          <a:p>
            <a:pPr lvl="2"/>
            <a:r>
              <a:rPr lang="en-US" altLang="en-US" dirty="0"/>
              <a:t>For all samples of size m, induces a positive definite Gram matrix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F1F734E-0F36-D4EB-8FA5-D1A2D8E1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387003B-21D3-EA30-ECF5-A59284434E1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Few Good Kernels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766B331-E4B3-009F-9CA5-656D3A73E6E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en-US" sz="2400"/>
              <a:t>Dot product kernel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K(x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) = &lt; 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 &gt;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Polynomial kernel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K(x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) = &lt; 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 &gt;</a:t>
            </a:r>
            <a:r>
              <a:rPr lang="en-US" altLang="en-US" sz="2000" baseline="30000"/>
              <a:t>d 	</a:t>
            </a:r>
            <a:r>
              <a:rPr lang="en-US" altLang="en-US" sz="2000"/>
              <a:t>(Monomials of degree d)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K(x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) = (&lt; 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 &gt; + 1)</a:t>
            </a:r>
            <a:r>
              <a:rPr lang="en-US" altLang="en-US" sz="2000" baseline="30000"/>
              <a:t>d 	</a:t>
            </a:r>
            <a:r>
              <a:rPr lang="en-US" altLang="en-US" sz="2000"/>
              <a:t>(All monomials of degree 1,2,…,d)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Gaussian kernel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K(x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) = exp(-| x</a:t>
            </a:r>
            <a:r>
              <a:rPr lang="en-US" altLang="en-US" sz="2000" baseline="-25000"/>
              <a:t>1</a:t>
            </a:r>
            <a:r>
              <a:rPr lang="en-US" altLang="en-US" sz="2000"/>
              <a:t>-x</a:t>
            </a:r>
            <a:r>
              <a:rPr lang="en-US" altLang="en-US" sz="2000" baseline="-25000"/>
              <a:t>2</a:t>
            </a:r>
            <a:r>
              <a:rPr lang="en-US" altLang="en-US" sz="2000"/>
              <a:t> |</a:t>
            </a:r>
            <a:r>
              <a:rPr lang="en-US" altLang="en-US" sz="2000" baseline="30000"/>
              <a:t>2</a:t>
            </a:r>
            <a:r>
              <a:rPr lang="en-US" altLang="en-US" sz="2000"/>
              <a:t>/2</a:t>
            </a:r>
            <a:r>
              <a:rPr lang="en-US" altLang="en-US" sz="2000">
                <a:sym typeface="Symbol" panose="05050102010706020507" pitchFamily="18" charset="2"/>
              </a:rPr>
              <a:t></a:t>
            </a:r>
            <a:r>
              <a:rPr lang="en-US" altLang="en-US" sz="2000" baseline="30000"/>
              <a:t>2</a:t>
            </a:r>
            <a:r>
              <a:rPr lang="en-US" altLang="en-US" sz="2000"/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Radial basis functions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Sigmoid kernel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K(x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) = tanh(&lt; x</a:t>
            </a:r>
            <a:r>
              <a:rPr lang="en-US" altLang="en-US" sz="2000" baseline="-25000"/>
              <a:t>1</a:t>
            </a:r>
            <a:r>
              <a:rPr lang="en-US" altLang="en-US" sz="2000"/>
              <a:t>,x</a:t>
            </a:r>
            <a:r>
              <a:rPr lang="en-US" altLang="en-US" sz="2000" baseline="-25000"/>
              <a:t>2</a:t>
            </a:r>
            <a:r>
              <a:rPr lang="en-US" altLang="en-US" sz="2000"/>
              <a:t> &gt; + </a:t>
            </a:r>
            <a:r>
              <a:rPr lang="en-US" altLang="en-US" sz="2000">
                <a:sym typeface="Symbol" panose="05050102010706020507" pitchFamily="18" charset="2"/>
              </a:rPr>
              <a:t></a:t>
            </a:r>
            <a:r>
              <a:rPr lang="en-US" altLang="en-US" sz="2000"/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Neural networks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Establishing “kernel-hood” from first principles is non-trivial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69821DF-7148-111E-8763-7D656E76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020F8FC-9DBA-41D2-2350-0E0C3AF95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938" y="2071358"/>
            <a:ext cx="4351023" cy="2283824"/>
          </a:xfrm>
        </p:spPr>
        <p:txBody>
          <a:bodyPr/>
          <a:lstStyle/>
          <a:p>
            <a:r>
              <a:rPr lang="en-CA" dirty="0">
                <a:solidFill>
                  <a:schemeClr val="tx1"/>
                </a:solidFill>
              </a:rPr>
              <a:t>Overfitting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5A45F-8E0B-39C8-C6B6-FA5FFB50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01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6CACF5F-172E-3498-FA08-61B9AEFEF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609600"/>
            <a:ext cx="7772400" cy="1143000"/>
          </a:xfrm>
        </p:spPr>
        <p:txBody>
          <a:bodyPr/>
          <a:lstStyle/>
          <a:p>
            <a:r>
              <a:rPr lang="en-US" altLang="en-US" dirty="0"/>
              <a:t>Overtraining/overfitting</a:t>
            </a:r>
          </a:p>
        </p:txBody>
      </p:sp>
      <p:grpSp>
        <p:nvGrpSpPr>
          <p:cNvPr id="32806" name="Group 38">
            <a:extLst>
              <a:ext uri="{FF2B5EF4-FFF2-40B4-BE49-F238E27FC236}">
                <a16:creationId xmlns:a16="http://schemas.microsoft.com/office/drawing/2014/main" id="{4800DA6F-D31A-A25A-DEDB-CE83AC54D7D0}"/>
              </a:ext>
            </a:extLst>
          </p:cNvPr>
          <p:cNvGrpSpPr>
            <a:grpSpLocks/>
          </p:cNvGrpSpPr>
          <p:nvPr/>
        </p:nvGrpSpPr>
        <p:grpSpPr bwMode="auto">
          <a:xfrm>
            <a:off x="3181993" y="3790605"/>
            <a:ext cx="4483877" cy="2932502"/>
            <a:chOff x="864" y="1248"/>
            <a:chExt cx="4039" cy="2745"/>
          </a:xfrm>
        </p:grpSpPr>
        <p:sp>
          <p:nvSpPr>
            <p:cNvPr id="32772" name="Oval 4">
              <a:extLst>
                <a:ext uri="{FF2B5EF4-FFF2-40B4-BE49-F238E27FC236}">
                  <a16:creationId xmlns:a16="http://schemas.microsoft.com/office/drawing/2014/main" id="{747ABBCC-6FAA-D49A-C513-ECB41947F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438"/>
              <a:ext cx="103" cy="11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3" name="Oval 5">
              <a:extLst>
                <a:ext uri="{FF2B5EF4-FFF2-40B4-BE49-F238E27FC236}">
                  <a16:creationId xmlns:a16="http://schemas.microsoft.com/office/drawing/2014/main" id="{77FA17E1-F786-11AC-44BF-C62F00E51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9" y="2661"/>
              <a:ext cx="104" cy="11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4" name="Oval 6">
              <a:extLst>
                <a:ext uri="{FF2B5EF4-FFF2-40B4-BE49-F238E27FC236}">
                  <a16:creationId xmlns:a16="http://schemas.microsoft.com/office/drawing/2014/main" id="{4ED7F02A-368C-30BB-8623-9EA1D44D5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168"/>
              <a:ext cx="104" cy="11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5" name="Oval 7">
              <a:extLst>
                <a:ext uri="{FF2B5EF4-FFF2-40B4-BE49-F238E27FC236}">
                  <a16:creationId xmlns:a16="http://schemas.microsoft.com/office/drawing/2014/main" id="{35CBA2B0-733C-12F2-35E2-BD0959AA7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736"/>
              <a:ext cx="103" cy="11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6" name="Oval 8">
              <a:extLst>
                <a:ext uri="{FF2B5EF4-FFF2-40B4-BE49-F238E27FC236}">
                  <a16:creationId xmlns:a16="http://schemas.microsoft.com/office/drawing/2014/main" id="{8264553A-BE0F-A30A-C33D-E9EB791F7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3256"/>
              <a:ext cx="103" cy="11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7" name="Oval 9">
              <a:extLst>
                <a:ext uri="{FF2B5EF4-FFF2-40B4-BE49-F238E27FC236}">
                  <a16:creationId xmlns:a16="http://schemas.microsoft.com/office/drawing/2014/main" id="{94B052E4-92C0-0977-0231-0FFAF49C6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04"/>
              <a:ext cx="104" cy="11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8" name="Oval 10">
              <a:extLst>
                <a:ext uri="{FF2B5EF4-FFF2-40B4-BE49-F238E27FC236}">
                  <a16:creationId xmlns:a16="http://schemas.microsoft.com/office/drawing/2014/main" id="{93694E86-0045-DCF2-753B-612E0DFAF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2921"/>
              <a:ext cx="104" cy="11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9" name="Oval 11">
              <a:extLst>
                <a:ext uri="{FF2B5EF4-FFF2-40B4-BE49-F238E27FC236}">
                  <a16:creationId xmlns:a16="http://schemas.microsoft.com/office/drawing/2014/main" id="{7D611A02-F223-1616-2187-FD03A982B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3033"/>
              <a:ext cx="104" cy="11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0" name="Oval 12">
              <a:extLst>
                <a:ext uri="{FF2B5EF4-FFF2-40B4-BE49-F238E27FC236}">
                  <a16:creationId xmlns:a16="http://schemas.microsoft.com/office/drawing/2014/main" id="{1B15423E-1704-21A8-C752-267A114C8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0" y="3702"/>
              <a:ext cx="104" cy="11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1" name="Oval 13">
              <a:extLst>
                <a:ext uri="{FF2B5EF4-FFF2-40B4-BE49-F238E27FC236}">
                  <a16:creationId xmlns:a16="http://schemas.microsoft.com/office/drawing/2014/main" id="{B1ED3664-268C-AC81-2048-A977BA5E0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" y="1516"/>
              <a:ext cx="103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2" name="Oval 14">
              <a:extLst>
                <a:ext uri="{FF2B5EF4-FFF2-40B4-BE49-F238E27FC236}">
                  <a16:creationId xmlns:a16="http://schemas.microsoft.com/office/drawing/2014/main" id="{9EEF99CD-141E-AF5E-6BA5-D0E608E9F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" y="1888"/>
              <a:ext cx="104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3" name="Oval 15">
              <a:extLst>
                <a:ext uri="{FF2B5EF4-FFF2-40B4-BE49-F238E27FC236}">
                  <a16:creationId xmlns:a16="http://schemas.microsoft.com/office/drawing/2014/main" id="{9ACDF478-13A9-BF79-CA81-856830AA3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2185"/>
              <a:ext cx="103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4" name="Oval 16">
              <a:extLst>
                <a:ext uri="{FF2B5EF4-FFF2-40B4-BE49-F238E27FC236}">
                  <a16:creationId xmlns:a16="http://schemas.microsoft.com/office/drawing/2014/main" id="{9690A950-047C-9516-DE13-059F3D1DC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" y="2780"/>
              <a:ext cx="104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5" name="Oval 17">
              <a:extLst>
                <a:ext uri="{FF2B5EF4-FFF2-40B4-BE49-F238E27FC236}">
                  <a16:creationId xmlns:a16="http://schemas.microsoft.com/office/drawing/2014/main" id="{879C0D6A-57C1-B55B-C4D1-A078C3978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2037"/>
              <a:ext cx="103" cy="11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6" name="Oval 18">
              <a:extLst>
                <a:ext uri="{FF2B5EF4-FFF2-40B4-BE49-F238E27FC236}">
                  <a16:creationId xmlns:a16="http://schemas.microsoft.com/office/drawing/2014/main" id="{1150FEA0-75C7-FD4A-DD10-574427E0E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2" y="2371"/>
              <a:ext cx="104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7" name="Oval 19">
              <a:extLst>
                <a:ext uri="{FF2B5EF4-FFF2-40B4-BE49-F238E27FC236}">
                  <a16:creationId xmlns:a16="http://schemas.microsoft.com/office/drawing/2014/main" id="{6B5E02E0-8319-E8E2-9742-8BD0AB952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594"/>
              <a:ext cx="103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8" name="Oval 20">
              <a:extLst>
                <a:ext uri="{FF2B5EF4-FFF2-40B4-BE49-F238E27FC236}">
                  <a16:creationId xmlns:a16="http://schemas.microsoft.com/office/drawing/2014/main" id="{C9F7C27E-5559-729C-68F7-CBCE71E06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" y="2148"/>
              <a:ext cx="103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89" name="Oval 21">
              <a:extLst>
                <a:ext uri="{FF2B5EF4-FFF2-40B4-BE49-F238E27FC236}">
                  <a16:creationId xmlns:a16="http://schemas.microsoft.com/office/drawing/2014/main" id="{B6B3AF69-C7C0-A54E-3B98-B2959272F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776"/>
              <a:ext cx="104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90" name="Line 22">
              <a:extLst>
                <a:ext uri="{FF2B5EF4-FFF2-40B4-BE49-F238E27FC236}">
                  <a16:creationId xmlns:a16="http://schemas.microsoft.com/office/drawing/2014/main" id="{AD24C998-478B-BDF0-F2B3-BB63234B1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2" y="1248"/>
              <a:ext cx="0" cy="26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791" name="Line 23">
              <a:extLst>
                <a:ext uri="{FF2B5EF4-FFF2-40B4-BE49-F238E27FC236}">
                  <a16:creationId xmlns:a16="http://schemas.microsoft.com/office/drawing/2014/main" id="{B16F5778-767C-8FD9-2EDD-3875E9066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888"/>
              <a:ext cx="3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792" name="Oval 24">
              <a:extLst>
                <a:ext uri="{FF2B5EF4-FFF2-40B4-BE49-F238E27FC236}">
                  <a16:creationId xmlns:a16="http://schemas.microsoft.com/office/drawing/2014/main" id="{1EF70708-8394-6E4B-452F-BA18CC055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" y="3371"/>
              <a:ext cx="70" cy="111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93" name="Oval 25">
              <a:extLst>
                <a:ext uri="{FF2B5EF4-FFF2-40B4-BE49-F238E27FC236}">
                  <a16:creationId xmlns:a16="http://schemas.microsoft.com/office/drawing/2014/main" id="{42170A81-68ED-EC59-7C95-8F46FBA31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6" y="3594"/>
              <a:ext cx="70" cy="11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94" name="Text Box 26">
              <a:extLst>
                <a:ext uri="{FF2B5EF4-FFF2-40B4-BE49-F238E27FC236}">
                  <a16:creationId xmlns:a16="http://schemas.microsoft.com/office/drawing/2014/main" id="{C3E15D40-4B41-51B1-B61C-704614969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9" y="3336"/>
              <a:ext cx="579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/>
                <a:t>=-1</a:t>
              </a:r>
            </a:p>
          </p:txBody>
        </p:sp>
        <p:sp>
          <p:nvSpPr>
            <p:cNvPr id="32795" name="Text Box 27">
              <a:extLst>
                <a:ext uri="{FF2B5EF4-FFF2-40B4-BE49-F238E27FC236}">
                  <a16:creationId xmlns:a16="http://schemas.microsoft.com/office/drawing/2014/main" id="{5B8090D0-93A2-0148-A517-58E730754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9" y="3561"/>
              <a:ext cx="654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/>
                <a:t>=+1</a:t>
              </a:r>
            </a:p>
          </p:txBody>
        </p:sp>
        <p:sp>
          <p:nvSpPr>
            <p:cNvPr id="32799" name="Oval 31">
              <a:extLst>
                <a:ext uri="{FF2B5EF4-FFF2-40B4-BE49-F238E27FC236}">
                  <a16:creationId xmlns:a16="http://schemas.microsoft.com/office/drawing/2014/main" id="{EE3B6926-61BC-919E-CC63-57570EE98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976"/>
              <a:ext cx="144" cy="144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3" name="Line 35">
              <a:extLst>
                <a:ext uri="{FF2B5EF4-FFF2-40B4-BE49-F238E27FC236}">
                  <a16:creationId xmlns:a16="http://schemas.microsoft.com/office/drawing/2014/main" id="{8EA8AFEB-EE39-5AB7-853F-2F07A4491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680"/>
              <a:ext cx="2256" cy="20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805" name="Freeform 37">
              <a:extLst>
                <a:ext uri="{FF2B5EF4-FFF2-40B4-BE49-F238E27FC236}">
                  <a16:creationId xmlns:a16="http://schemas.microsoft.com/office/drawing/2014/main" id="{59B9F12A-D5E1-8063-1751-D70AF793F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" y="2325"/>
              <a:ext cx="1646" cy="1425"/>
            </a:xfrm>
            <a:custGeom>
              <a:avLst/>
              <a:gdLst>
                <a:gd name="T0" fmla="*/ 1622 w 1646"/>
                <a:gd name="T1" fmla="*/ 1425 h 1425"/>
                <a:gd name="T2" fmla="*/ 1528 w 1646"/>
                <a:gd name="T3" fmla="*/ 1401 h 1425"/>
                <a:gd name="T4" fmla="*/ 1458 w 1646"/>
                <a:gd name="T5" fmla="*/ 1354 h 1425"/>
                <a:gd name="T6" fmla="*/ 1352 w 1646"/>
                <a:gd name="T7" fmla="*/ 1343 h 1425"/>
                <a:gd name="T8" fmla="*/ 1246 w 1646"/>
                <a:gd name="T9" fmla="*/ 1249 h 1425"/>
                <a:gd name="T10" fmla="*/ 1270 w 1646"/>
                <a:gd name="T11" fmla="*/ 1119 h 1425"/>
                <a:gd name="T12" fmla="*/ 1305 w 1646"/>
                <a:gd name="T13" fmla="*/ 1107 h 1425"/>
                <a:gd name="T14" fmla="*/ 1599 w 1646"/>
                <a:gd name="T15" fmla="*/ 1002 h 1425"/>
                <a:gd name="T16" fmla="*/ 1622 w 1646"/>
                <a:gd name="T17" fmla="*/ 966 h 1425"/>
                <a:gd name="T18" fmla="*/ 1646 w 1646"/>
                <a:gd name="T19" fmla="*/ 896 h 1425"/>
                <a:gd name="T20" fmla="*/ 1422 w 1646"/>
                <a:gd name="T21" fmla="*/ 814 h 1425"/>
                <a:gd name="T22" fmla="*/ 1246 w 1646"/>
                <a:gd name="T23" fmla="*/ 884 h 1425"/>
                <a:gd name="T24" fmla="*/ 1093 w 1646"/>
                <a:gd name="T25" fmla="*/ 837 h 1425"/>
                <a:gd name="T26" fmla="*/ 1058 w 1646"/>
                <a:gd name="T27" fmla="*/ 579 h 1425"/>
                <a:gd name="T28" fmla="*/ 1034 w 1646"/>
                <a:gd name="T29" fmla="*/ 508 h 1425"/>
                <a:gd name="T30" fmla="*/ 952 w 1646"/>
                <a:gd name="T31" fmla="*/ 473 h 1425"/>
                <a:gd name="T32" fmla="*/ 882 w 1646"/>
                <a:gd name="T33" fmla="*/ 449 h 1425"/>
                <a:gd name="T34" fmla="*/ 788 w 1646"/>
                <a:gd name="T35" fmla="*/ 590 h 1425"/>
                <a:gd name="T36" fmla="*/ 752 w 1646"/>
                <a:gd name="T37" fmla="*/ 614 h 1425"/>
                <a:gd name="T38" fmla="*/ 682 w 1646"/>
                <a:gd name="T39" fmla="*/ 637 h 1425"/>
                <a:gd name="T40" fmla="*/ 599 w 1646"/>
                <a:gd name="T41" fmla="*/ 555 h 1425"/>
                <a:gd name="T42" fmla="*/ 611 w 1646"/>
                <a:gd name="T43" fmla="*/ 296 h 1425"/>
                <a:gd name="T44" fmla="*/ 447 w 1646"/>
                <a:gd name="T45" fmla="*/ 85 h 1425"/>
                <a:gd name="T46" fmla="*/ 306 w 1646"/>
                <a:gd name="T47" fmla="*/ 14 h 1425"/>
                <a:gd name="T48" fmla="*/ 0 w 1646"/>
                <a:gd name="T49" fmla="*/ 3 h 1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46" h="1425">
                  <a:moveTo>
                    <a:pt x="1622" y="1425"/>
                  </a:moveTo>
                  <a:cubicBezTo>
                    <a:pt x="1605" y="1421"/>
                    <a:pt x="1549" y="1413"/>
                    <a:pt x="1528" y="1401"/>
                  </a:cubicBezTo>
                  <a:cubicBezTo>
                    <a:pt x="1503" y="1387"/>
                    <a:pt x="1486" y="1357"/>
                    <a:pt x="1458" y="1354"/>
                  </a:cubicBezTo>
                  <a:cubicBezTo>
                    <a:pt x="1423" y="1350"/>
                    <a:pt x="1387" y="1347"/>
                    <a:pt x="1352" y="1343"/>
                  </a:cubicBezTo>
                  <a:cubicBezTo>
                    <a:pt x="1270" y="1315"/>
                    <a:pt x="1274" y="1331"/>
                    <a:pt x="1246" y="1249"/>
                  </a:cubicBezTo>
                  <a:cubicBezTo>
                    <a:pt x="1246" y="1249"/>
                    <a:pt x="1255" y="1134"/>
                    <a:pt x="1270" y="1119"/>
                  </a:cubicBezTo>
                  <a:cubicBezTo>
                    <a:pt x="1279" y="1110"/>
                    <a:pt x="1294" y="1113"/>
                    <a:pt x="1305" y="1107"/>
                  </a:cubicBezTo>
                  <a:cubicBezTo>
                    <a:pt x="1398" y="1061"/>
                    <a:pt x="1499" y="1033"/>
                    <a:pt x="1599" y="1002"/>
                  </a:cubicBezTo>
                  <a:cubicBezTo>
                    <a:pt x="1607" y="990"/>
                    <a:pt x="1616" y="979"/>
                    <a:pt x="1622" y="966"/>
                  </a:cubicBezTo>
                  <a:cubicBezTo>
                    <a:pt x="1632" y="943"/>
                    <a:pt x="1646" y="896"/>
                    <a:pt x="1646" y="896"/>
                  </a:cubicBezTo>
                  <a:cubicBezTo>
                    <a:pt x="1617" y="754"/>
                    <a:pt x="1585" y="803"/>
                    <a:pt x="1422" y="814"/>
                  </a:cubicBezTo>
                  <a:cubicBezTo>
                    <a:pt x="1359" y="835"/>
                    <a:pt x="1308" y="863"/>
                    <a:pt x="1246" y="884"/>
                  </a:cubicBezTo>
                  <a:cubicBezTo>
                    <a:pt x="1179" y="874"/>
                    <a:pt x="1146" y="874"/>
                    <a:pt x="1093" y="837"/>
                  </a:cubicBezTo>
                  <a:cubicBezTo>
                    <a:pt x="1025" y="734"/>
                    <a:pt x="1091" y="846"/>
                    <a:pt x="1058" y="579"/>
                  </a:cubicBezTo>
                  <a:cubicBezTo>
                    <a:pt x="1055" y="554"/>
                    <a:pt x="1055" y="522"/>
                    <a:pt x="1034" y="508"/>
                  </a:cubicBezTo>
                  <a:cubicBezTo>
                    <a:pt x="977" y="469"/>
                    <a:pt x="1023" y="494"/>
                    <a:pt x="952" y="473"/>
                  </a:cubicBezTo>
                  <a:cubicBezTo>
                    <a:pt x="928" y="466"/>
                    <a:pt x="882" y="449"/>
                    <a:pt x="882" y="449"/>
                  </a:cubicBezTo>
                  <a:cubicBezTo>
                    <a:pt x="855" y="489"/>
                    <a:pt x="826" y="559"/>
                    <a:pt x="788" y="590"/>
                  </a:cubicBezTo>
                  <a:cubicBezTo>
                    <a:pt x="777" y="599"/>
                    <a:pt x="765" y="608"/>
                    <a:pt x="752" y="614"/>
                  </a:cubicBezTo>
                  <a:cubicBezTo>
                    <a:pt x="730" y="624"/>
                    <a:pt x="682" y="637"/>
                    <a:pt x="682" y="637"/>
                  </a:cubicBezTo>
                  <a:cubicBezTo>
                    <a:pt x="617" y="622"/>
                    <a:pt x="620" y="616"/>
                    <a:pt x="599" y="555"/>
                  </a:cubicBezTo>
                  <a:cubicBezTo>
                    <a:pt x="611" y="451"/>
                    <a:pt x="631" y="403"/>
                    <a:pt x="611" y="296"/>
                  </a:cubicBezTo>
                  <a:cubicBezTo>
                    <a:pt x="590" y="182"/>
                    <a:pt x="544" y="139"/>
                    <a:pt x="447" y="85"/>
                  </a:cubicBezTo>
                  <a:cubicBezTo>
                    <a:pt x="399" y="58"/>
                    <a:pt x="365" y="18"/>
                    <a:pt x="306" y="14"/>
                  </a:cubicBezTo>
                  <a:cubicBezTo>
                    <a:pt x="86" y="0"/>
                    <a:pt x="188" y="3"/>
                    <a:pt x="0" y="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2808" name="Text Box 40">
            <a:extLst>
              <a:ext uri="{FF2B5EF4-FFF2-40B4-BE49-F238E27FC236}">
                <a16:creationId xmlns:a16="http://schemas.microsoft.com/office/drawing/2014/main" id="{213AF285-FFC9-7D7E-B025-43DF52DCA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421" y="2986371"/>
            <a:ext cx="105689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An example: A botanist really knows trees. Every time he sees a new tree, </a:t>
            </a:r>
          </a:p>
          <a:p>
            <a:r>
              <a:rPr lang="en-US" altLang="en-US" sz="2000" dirty="0"/>
              <a:t>he claims it is not a tree.</a:t>
            </a:r>
          </a:p>
        </p:txBody>
      </p:sp>
      <p:sp>
        <p:nvSpPr>
          <p:cNvPr id="32809" name="Text Box 41">
            <a:extLst>
              <a:ext uri="{FF2B5EF4-FFF2-40B4-BE49-F238E27FC236}">
                <a16:creationId xmlns:a16="http://schemas.microsoft.com/office/drawing/2014/main" id="{045CFD17-F3DD-724B-2967-AA1DB571D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421" y="2011320"/>
            <a:ext cx="1037980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A well known problem with machine learning methods is overtraining.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This means that we have </a:t>
            </a:r>
            <a:r>
              <a:rPr lang="en-US" altLang="en-US" sz="2000" b="1" dirty="0"/>
              <a:t>learned the training data very well</a:t>
            </a:r>
            <a:r>
              <a:rPr lang="en-US" altLang="en-US" sz="2000" dirty="0"/>
              <a:t>, but </a:t>
            </a:r>
          </a:p>
          <a:p>
            <a:r>
              <a:rPr lang="en-US" altLang="en-US" sz="2000" dirty="0"/>
              <a:t>we can not classify </a:t>
            </a:r>
            <a:r>
              <a:rPr lang="en-US" altLang="en-US" sz="2000" b="1" dirty="0"/>
              <a:t>unseen</a:t>
            </a:r>
            <a:r>
              <a:rPr lang="en-US" altLang="en-US" sz="2000" dirty="0"/>
              <a:t> examples correctly.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D5D705A-DDDC-C0B8-4145-FE7D90523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9326" y="1053111"/>
            <a:ext cx="8761413" cy="706964"/>
          </a:xfrm>
        </p:spPr>
        <p:txBody>
          <a:bodyPr/>
          <a:lstStyle/>
          <a:p>
            <a:r>
              <a:rPr lang="en-US" altLang="en-US" dirty="0"/>
              <a:t>Overtraining/overfitting 2</a:t>
            </a:r>
          </a:p>
        </p:txBody>
      </p:sp>
      <p:sp>
        <p:nvSpPr>
          <p:cNvPr id="31808" name="Text Box 64">
            <a:extLst>
              <a:ext uri="{FF2B5EF4-FFF2-40B4-BE49-F238E27FC236}">
                <a16:creationId xmlns:a16="http://schemas.microsoft.com/office/drawing/2014/main" id="{E3A5782E-7B6D-C735-0EB5-5985AE0FC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134" y="2888627"/>
            <a:ext cx="8382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It can be shown that: The portion, n, of unseen data that will be </a:t>
            </a:r>
            <a:r>
              <a:rPr lang="en-US" altLang="en-US" sz="2000" dirty="0" err="1"/>
              <a:t>missclassified</a:t>
            </a:r>
            <a:r>
              <a:rPr lang="en-US" altLang="en-US" sz="2000" dirty="0"/>
              <a:t> is bounded by: </a:t>
            </a:r>
          </a:p>
          <a:p>
            <a:r>
              <a:rPr lang="en-US" altLang="en-US" sz="2000" dirty="0"/>
              <a:t>	n </a:t>
            </a:r>
            <a:r>
              <a:rPr lang="en-US" altLang="en-US" sz="2000" dirty="0">
                <a:sym typeface="Symbol" panose="05050102010706020507" pitchFamily="18" charset="2"/>
              </a:rPr>
              <a:t> Number of support vectors / number of training examples</a:t>
            </a:r>
            <a:endParaRPr lang="en-US" altLang="en-US" sz="2000" dirty="0"/>
          </a:p>
        </p:txBody>
      </p:sp>
      <p:sp>
        <p:nvSpPr>
          <p:cNvPr id="31809" name="Text Box 65">
            <a:extLst>
              <a:ext uri="{FF2B5EF4-FFF2-40B4-BE49-F238E27FC236}">
                <a16:creationId xmlns:a16="http://schemas.microsoft.com/office/drawing/2014/main" id="{003E1338-2DBA-541D-C4ED-72D7A392B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1" y="2187713"/>
            <a:ext cx="876073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A measure of the risk of overtraining with SVM (there are also other</a:t>
            </a:r>
          </a:p>
          <a:p>
            <a:r>
              <a:rPr lang="en-US" altLang="en-US" sz="2000" dirty="0"/>
              <a:t>measures). </a:t>
            </a:r>
          </a:p>
        </p:txBody>
      </p:sp>
      <p:sp>
        <p:nvSpPr>
          <p:cNvPr id="31810" name="Text Box 66">
            <a:extLst>
              <a:ext uri="{FF2B5EF4-FFF2-40B4-BE49-F238E27FC236}">
                <a16:creationId xmlns:a16="http://schemas.microsoft.com/office/drawing/2014/main" id="{D592660D-04FF-43D5-7C91-1ECE0B5B1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621" y="4127968"/>
            <a:ext cx="92360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Ockham´s razor principle: Simpler system are better than more complex 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In SVM case: fewer support vectors mean a simpler representation of the hyperplane.</a:t>
            </a:r>
          </a:p>
        </p:txBody>
      </p:sp>
      <p:sp>
        <p:nvSpPr>
          <p:cNvPr id="31811" name="Text Box 67">
            <a:extLst>
              <a:ext uri="{FF2B5EF4-FFF2-40B4-BE49-F238E27FC236}">
                <a16:creationId xmlns:a16="http://schemas.microsoft.com/office/drawing/2014/main" id="{5D8DC0CF-010C-FA53-DD13-7532A9DAB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51863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31812" name="Text Box 68">
            <a:extLst>
              <a:ext uri="{FF2B5EF4-FFF2-40B4-BE49-F238E27FC236}">
                <a16:creationId xmlns:a16="http://schemas.microsoft.com/office/drawing/2014/main" id="{E82B221A-C52B-6FE6-291D-5C51BC1FC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621" y="5440811"/>
            <a:ext cx="102050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Example: Understanding a certain cancer if it can be described by one gene </a:t>
            </a:r>
          </a:p>
          <a:p>
            <a:r>
              <a:rPr lang="en-US" altLang="en-US" sz="2000" dirty="0"/>
              <a:t>is easier than if we have to describe it with 5000.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A67F343-BD93-3D61-5A5D-7ACC1CAC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97378A-A5A1-A060-30F6-EBCCCF42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731" y="2555097"/>
            <a:ext cx="6122537" cy="228382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Training a SVM Model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2E0B4-5F10-B862-A64A-214BBE7C4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799EB-DA46-8141-81BA-553F59E3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234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5930-0E98-2F1B-443B-115D2DEF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33E15-9F13-B5E7-7F5E-722F43A7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318993"/>
            <a:ext cx="8894018" cy="416664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fact every </a:t>
            </a:r>
            <a:r>
              <a:rPr lang="en-US" altLang="en-US" sz="1800" dirty="0"/>
              <a:t>X and O are a representation of an object in a group.</a:t>
            </a:r>
          </a:p>
          <a:p>
            <a:r>
              <a:rPr lang="en-US" dirty="0"/>
              <a:t>To represent an object in SVM, we get some characteristics of an object.</a:t>
            </a:r>
          </a:p>
          <a:p>
            <a:r>
              <a:rPr lang="en-US" dirty="0"/>
              <a:t>Every characteristic or variable is called a </a:t>
            </a:r>
            <a:r>
              <a:rPr lang="en-US" b="1" dirty="0"/>
              <a:t>Feature.</a:t>
            </a:r>
          </a:p>
          <a:p>
            <a:r>
              <a:rPr lang="en-US" dirty="0"/>
              <a:t>Features should be nominal(digits) to be able to apply Mathematical algorithms such as SVM over them.</a:t>
            </a:r>
          </a:p>
          <a:p>
            <a:r>
              <a:rPr lang="en-US" dirty="0"/>
              <a:t>For example,</a:t>
            </a:r>
          </a:p>
          <a:p>
            <a:pPr lvl="1"/>
            <a:r>
              <a:rPr lang="en-US" dirty="0"/>
              <a:t>List of permissions in Android apps are the features. </a:t>
            </a:r>
          </a:p>
          <a:p>
            <a:pPr lvl="1"/>
            <a:r>
              <a:rPr lang="en-CA" dirty="0"/>
              <a:t>Number of sides in a cube is a feature to represent cubes.</a:t>
            </a:r>
          </a:p>
          <a:p>
            <a:pPr lvl="1"/>
            <a:r>
              <a:rPr lang="en-CA" dirty="0"/>
              <a:t>Cat ear size and the number of legs are the features for training a model to identify cats.</a:t>
            </a:r>
          </a:p>
          <a:p>
            <a:pPr lvl="1"/>
            <a:r>
              <a:rPr lang="en-CA" dirty="0" err="1"/>
              <a:t>Attack_impact</a:t>
            </a:r>
            <a:r>
              <a:rPr lang="en-CA" dirty="0"/>
              <a:t> for every vulnerability can be a feature to identify high exploitable vulnerabilities.</a:t>
            </a:r>
          </a:p>
          <a:p>
            <a:r>
              <a:rPr lang="en-CA" dirty="0"/>
              <a:t>You may need to clean the dataset to quantize the features.</a:t>
            </a:r>
          </a:p>
          <a:p>
            <a:pPr lvl="1"/>
            <a:r>
              <a:rPr lang="en-CA" dirty="0"/>
              <a:t>For example, </a:t>
            </a:r>
            <a:r>
              <a:rPr lang="en-US" dirty="0"/>
              <a:t>To quantize the permissions in Android apps, 1 represents the existence of a permission and 0 represents the non-existence of a </a:t>
            </a:r>
            <a:r>
              <a:rPr lang="en-US" dirty="0" err="1"/>
              <a:t>permssions</a:t>
            </a:r>
            <a:r>
              <a:rPr lang="en-US" dirty="0"/>
              <a:t>.</a:t>
            </a:r>
          </a:p>
          <a:p>
            <a:pPr lvl="1"/>
            <a:r>
              <a:rPr lang="en-CA" dirty="0"/>
              <a:t>For Vulnerabilities, if </a:t>
            </a:r>
            <a:r>
              <a:rPr lang="en-CA" dirty="0" err="1"/>
              <a:t>Attack_impact</a:t>
            </a:r>
            <a:r>
              <a:rPr lang="en-CA" dirty="0"/>
              <a:t> is High, it can be map to 0, if it is Low it can map to 1.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759F7-8C80-EF95-7D10-5EA005B0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3B149-232B-D6A4-D02A-EDCC257EF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A714CC5-9283-2A31-C3AF-B88846C2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072" y="1429727"/>
            <a:ext cx="2583839" cy="177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83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A931-D952-D7EA-3F94-EFFAEB8A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371FB-F274-AFE0-A8D1-EEB63DCE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object(item) belong to a group(category) that is called </a:t>
            </a:r>
            <a:r>
              <a:rPr lang="en-US" b="1" dirty="0"/>
              <a:t>Class</a:t>
            </a:r>
            <a:r>
              <a:rPr lang="en-US" dirty="0"/>
              <a:t> in machine learning</a:t>
            </a:r>
          </a:p>
          <a:p>
            <a:r>
              <a:rPr lang="en-US" dirty="0"/>
              <a:t>There are usually two categories in ML class</a:t>
            </a:r>
          </a:p>
          <a:p>
            <a:pPr lvl="1"/>
            <a:r>
              <a:rPr lang="en-US" dirty="0"/>
              <a:t>For example, in the Android apps dataset, the class showing whether an object is benign or malware</a:t>
            </a:r>
          </a:p>
          <a:p>
            <a:r>
              <a:rPr lang="en-US" dirty="0"/>
              <a:t>There are datasets in that, objects categorize into more than two class that needs to utilize multi-class ML algorithms.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9A2F0-9453-0BF9-7955-0E95AFC3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D1E32-79BB-AC29-513A-9DCB629C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09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084C-A91C-B9EC-3151-765656A2C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the data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9F684-9561-3E4D-09E6-F4C52343B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need to clean the data in order to:</a:t>
            </a:r>
          </a:p>
          <a:p>
            <a:pPr lvl="1"/>
            <a:r>
              <a:rPr lang="en-US" dirty="0"/>
              <a:t>Quantize the feature’s value</a:t>
            </a:r>
          </a:p>
          <a:p>
            <a:pPr lvl="1"/>
            <a:r>
              <a:rPr lang="en-US" dirty="0"/>
              <a:t>Fill in the missing values</a:t>
            </a:r>
          </a:p>
          <a:p>
            <a:pPr lvl="1"/>
            <a:r>
              <a:rPr lang="en-US" dirty="0"/>
              <a:t>Delete the outlier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Details of data cleaning is provided in module 4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FA6FE-5D1D-4A45-DC39-ADAB2D099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72488-F968-A352-9642-A31AB3DA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17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384B-E9BF-6BFA-C948-63E6EE12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the data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1AA65-FE8C-F5EE-77B9-B65A4B686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able to evaluate the trained model, you need to keep a portion of the data for evaluation. This portion is referred to as the </a:t>
            </a:r>
            <a:r>
              <a:rPr lang="en-US" b="1" dirty="0"/>
              <a:t>testing</a:t>
            </a:r>
            <a:r>
              <a:rPr lang="en-US" dirty="0"/>
              <a:t> </a:t>
            </a:r>
            <a:r>
              <a:rPr lang="en-US" b="1" dirty="0"/>
              <a:t>dataset</a:t>
            </a:r>
            <a:r>
              <a:rPr lang="en-US" dirty="0"/>
              <a:t>.</a:t>
            </a:r>
          </a:p>
          <a:p>
            <a:r>
              <a:rPr lang="en-US" dirty="0"/>
              <a:t>The portion of the data for training the model is called </a:t>
            </a:r>
            <a:r>
              <a:rPr lang="en-US" b="1" dirty="0"/>
              <a:t>the training dataset.</a:t>
            </a:r>
          </a:p>
          <a:p>
            <a:r>
              <a:rPr lang="en-US" dirty="0"/>
              <a:t>Usually the data split to  ~ 30/70  for testing/training dataset.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0ACA4-DCCC-4AFF-0E71-A23D639F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B402A-25ED-4E10-0D1E-D2086925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679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46543F0-47B7-14BD-1B84-FF59E5BCC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805513"/>
              </p:ext>
            </p:extLst>
          </p:nvPr>
        </p:nvGraphicFramePr>
        <p:xfrm>
          <a:off x="2299832" y="2213791"/>
          <a:ext cx="8761410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630">
                  <a:extLst>
                    <a:ext uri="{9D8B030D-6E8A-4147-A177-3AD203B41FA5}">
                      <a16:colId xmlns:a16="http://schemas.microsoft.com/office/drawing/2014/main" val="2659067707"/>
                    </a:ext>
                  </a:extLst>
                </a:gridCol>
                <a:gridCol w="1251630">
                  <a:extLst>
                    <a:ext uri="{9D8B030D-6E8A-4147-A177-3AD203B41FA5}">
                      <a16:colId xmlns:a16="http://schemas.microsoft.com/office/drawing/2014/main" val="1123864732"/>
                    </a:ext>
                  </a:extLst>
                </a:gridCol>
                <a:gridCol w="1251630">
                  <a:extLst>
                    <a:ext uri="{9D8B030D-6E8A-4147-A177-3AD203B41FA5}">
                      <a16:colId xmlns:a16="http://schemas.microsoft.com/office/drawing/2014/main" val="655163587"/>
                    </a:ext>
                  </a:extLst>
                </a:gridCol>
                <a:gridCol w="1251630">
                  <a:extLst>
                    <a:ext uri="{9D8B030D-6E8A-4147-A177-3AD203B41FA5}">
                      <a16:colId xmlns:a16="http://schemas.microsoft.com/office/drawing/2014/main" val="4066219297"/>
                    </a:ext>
                  </a:extLst>
                </a:gridCol>
                <a:gridCol w="1251630">
                  <a:extLst>
                    <a:ext uri="{9D8B030D-6E8A-4147-A177-3AD203B41FA5}">
                      <a16:colId xmlns:a16="http://schemas.microsoft.com/office/drawing/2014/main" val="1856558866"/>
                    </a:ext>
                  </a:extLst>
                </a:gridCol>
                <a:gridCol w="1251630">
                  <a:extLst>
                    <a:ext uri="{9D8B030D-6E8A-4147-A177-3AD203B41FA5}">
                      <a16:colId xmlns:a16="http://schemas.microsoft.com/office/drawing/2014/main" val="3917015667"/>
                    </a:ext>
                  </a:extLst>
                </a:gridCol>
                <a:gridCol w="1251630">
                  <a:extLst>
                    <a:ext uri="{9D8B030D-6E8A-4147-A177-3AD203B41FA5}">
                      <a16:colId xmlns:a16="http://schemas.microsoft.com/office/drawing/2014/main" val="2649018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Malware/benign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77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92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058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91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24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36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30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441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149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44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68346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E6955-9728-020B-BE4D-1AE217F9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F4616-D3E2-0701-ED22-B376EDBE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F0AFF6-2FC7-9FA8-4443-D203EBCE24F4}"/>
                  </a:ext>
                </a:extLst>
              </p14:cNvPr>
              <p14:cNvContentPartPr/>
              <p14:nvPr/>
            </p14:nvContentPartPr>
            <p14:xfrm>
              <a:off x="2117780" y="2837712"/>
              <a:ext cx="229180" cy="25926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F0AFF6-2FC7-9FA8-4443-D203EBCE24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9145" y="2828712"/>
                <a:ext cx="246809" cy="26103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D284AB2-38F9-1D2E-9EBC-E1E79D808311}"/>
                  </a:ext>
                </a:extLst>
              </p14:cNvPr>
              <p14:cNvContentPartPr/>
              <p14:nvPr/>
            </p14:nvContentPartPr>
            <p14:xfrm>
              <a:off x="2187056" y="5457459"/>
              <a:ext cx="151983" cy="994953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D284AB2-38F9-1D2E-9EBC-E1E79D8083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78412" y="5448820"/>
                <a:ext cx="169630" cy="10125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2707487-B9F5-E8EF-23AE-1DCF07A3D410}"/>
                  </a:ext>
                </a:extLst>
              </p14:cNvPr>
              <p14:cNvContentPartPr/>
              <p14:nvPr/>
            </p14:nvContentPartPr>
            <p14:xfrm>
              <a:off x="3628622" y="1695092"/>
              <a:ext cx="6015600" cy="307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2707487-B9F5-E8EF-23AE-1DCF07A3D4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19982" y="1686452"/>
                <a:ext cx="60332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3B5BF40-8174-CC8E-6CBE-72D054172800}"/>
                  </a:ext>
                </a:extLst>
              </p14:cNvPr>
              <p14:cNvContentPartPr/>
              <p14:nvPr/>
            </p14:nvContentPartPr>
            <p14:xfrm>
              <a:off x="10350182" y="1602212"/>
              <a:ext cx="360" cy="121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3B5BF40-8174-CC8E-6CBE-72D0541728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41182" y="1593572"/>
                <a:ext cx="180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59C46A-E9C6-F658-EE43-6B146F96F08D}"/>
                  </a:ext>
                </a:extLst>
              </p14:cNvPr>
              <p14:cNvContentPartPr/>
              <p14:nvPr/>
            </p14:nvContentPartPr>
            <p14:xfrm>
              <a:off x="10286822" y="1734332"/>
              <a:ext cx="121680" cy="281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59C46A-E9C6-F658-EE43-6B146F96F0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78182" y="1725332"/>
                <a:ext cx="1393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B3D3BAE-6816-1732-28BB-987B435DF5F8}"/>
                  </a:ext>
                </a:extLst>
              </p14:cNvPr>
              <p14:cNvContentPartPr/>
              <p14:nvPr/>
            </p14:nvContentPartPr>
            <p14:xfrm>
              <a:off x="10246502" y="1814612"/>
              <a:ext cx="327240" cy="212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B3D3BAE-6816-1732-28BB-987B435DF5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37502" y="1805612"/>
                <a:ext cx="344880" cy="2296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5DC580A-4CAF-F0BD-7924-29B109D865F8}"/>
              </a:ext>
            </a:extLst>
          </p:cNvPr>
          <p:cNvSpPr txBox="1"/>
          <p:nvPr/>
        </p:nvSpPr>
        <p:spPr>
          <a:xfrm flipH="1">
            <a:off x="10006316" y="1177121"/>
            <a:ext cx="106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F8A50-C232-CF3C-7AF1-71AF12D415B2}"/>
              </a:ext>
            </a:extLst>
          </p:cNvPr>
          <p:cNvSpPr txBox="1"/>
          <p:nvPr/>
        </p:nvSpPr>
        <p:spPr>
          <a:xfrm flipH="1">
            <a:off x="5534473" y="1354560"/>
            <a:ext cx="229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Features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7C1D59-88AF-6E8F-150C-0A44709CE1B5}"/>
              </a:ext>
            </a:extLst>
          </p:cNvPr>
          <p:cNvSpPr txBox="1"/>
          <p:nvPr/>
        </p:nvSpPr>
        <p:spPr>
          <a:xfrm>
            <a:off x="1268883" y="3086303"/>
            <a:ext cx="1290488" cy="665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set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CC022A-4776-7D9A-DA6B-83012C39DE26}"/>
              </a:ext>
            </a:extLst>
          </p:cNvPr>
          <p:cNvSpPr txBox="1"/>
          <p:nvPr/>
        </p:nvSpPr>
        <p:spPr>
          <a:xfrm>
            <a:off x="1358136" y="5635648"/>
            <a:ext cx="1290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Testing set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897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FC5D-B73E-E0AF-7A2D-5F6336A4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modeling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62E1D-829C-F976-9F6B-C5268B3E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1- Select some variables as features</a:t>
            </a:r>
          </a:p>
          <a:p>
            <a:pPr marL="0" indent="0">
              <a:buNone/>
            </a:pPr>
            <a:r>
              <a:rPr lang="en-US" dirty="0"/>
              <a:t>2- Clean data: quantize the features</a:t>
            </a:r>
          </a:p>
          <a:p>
            <a:pPr marL="0" indent="0">
              <a:buNone/>
            </a:pPr>
            <a:r>
              <a:rPr lang="en-US" dirty="0"/>
              <a:t>3- Identify the variable as the Class of objects </a:t>
            </a:r>
          </a:p>
          <a:p>
            <a:pPr marL="0" indent="0">
              <a:buNone/>
            </a:pPr>
            <a:r>
              <a:rPr lang="en-US" dirty="0"/>
              <a:t>4- Split the data into a testing/training dataset </a:t>
            </a:r>
          </a:p>
          <a:p>
            <a:pPr marL="0" indent="0">
              <a:buNone/>
            </a:pPr>
            <a:r>
              <a:rPr lang="en-US" dirty="0"/>
              <a:t>5- Apply ML algorithms (e.g. SVM) to model based on the training dataset </a:t>
            </a:r>
          </a:p>
          <a:p>
            <a:pPr marL="0" indent="0">
              <a:buNone/>
            </a:pPr>
            <a:r>
              <a:rPr lang="en-US" dirty="0"/>
              <a:t>6- Evaluate your model over the testing dataset.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8A741C-D8FA-BC16-FB91-D45FD48FE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412C7-6791-3C49-C71B-E908861E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48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6FBEC9-E1C9-8EC6-4EEA-FE975E89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540" y="2154889"/>
            <a:ext cx="5584919" cy="3313580"/>
          </a:xfrm>
        </p:spPr>
        <p:txBody>
          <a:bodyPr/>
          <a:lstStyle/>
          <a:p>
            <a:r>
              <a:rPr lang="en-CA" dirty="0">
                <a:solidFill>
                  <a:schemeClr val="tx1"/>
                </a:solidFill>
              </a:rPr>
              <a:t>SVM with Python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B8B35-E22A-8D31-F37F-D92FC948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29678-B54D-E64E-995D-778919AF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55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201BAD-DC4A-A683-D351-E03ED4DF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053" y="1063416"/>
            <a:ext cx="8761413" cy="706964"/>
          </a:xfrm>
        </p:spPr>
        <p:txBody>
          <a:bodyPr/>
          <a:lstStyle/>
          <a:p>
            <a:r>
              <a:rPr lang="en-CA" dirty="0"/>
              <a:t>1- Import necessary libraries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9CF4A-B8D1-46E0-8207-99CE768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6A303-6AD6-F623-B151-EACFC1C6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70BE8-BD96-D5C5-BC70-1F95F77A9F3F}"/>
              </a:ext>
            </a:extLst>
          </p:cNvPr>
          <p:cNvSpPr txBox="1"/>
          <p:nvPr/>
        </p:nvSpPr>
        <p:spPr>
          <a:xfrm>
            <a:off x="1859577" y="2502298"/>
            <a:ext cx="97143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import pandas as pd</a:t>
            </a:r>
          </a:p>
          <a:p>
            <a:r>
              <a:rPr lang="en-CA" dirty="0"/>
              <a:t>from </a:t>
            </a:r>
            <a:r>
              <a:rPr lang="en-CA" dirty="0" err="1"/>
              <a:t>sklearn.model_selection</a:t>
            </a:r>
            <a:r>
              <a:rPr lang="en-CA" dirty="0"/>
              <a:t> import </a:t>
            </a:r>
            <a:r>
              <a:rPr lang="en-CA" dirty="0" err="1"/>
              <a:t>train_test_split</a:t>
            </a:r>
            <a:endParaRPr lang="en-CA" dirty="0"/>
          </a:p>
          <a:p>
            <a:r>
              <a:rPr lang="en-CA" dirty="0"/>
              <a:t>from </a:t>
            </a:r>
            <a:r>
              <a:rPr lang="en-CA" dirty="0" err="1"/>
              <a:t>sklearn.svm</a:t>
            </a:r>
            <a:r>
              <a:rPr lang="en-CA" dirty="0"/>
              <a:t> import SVC</a:t>
            </a:r>
          </a:p>
          <a:p>
            <a:r>
              <a:rPr lang="en-CA" dirty="0"/>
              <a:t>from </a:t>
            </a:r>
            <a:r>
              <a:rPr lang="en-CA" dirty="0" err="1"/>
              <a:t>sklearn.metrics</a:t>
            </a:r>
            <a:r>
              <a:rPr lang="en-CA" dirty="0"/>
              <a:t> import </a:t>
            </a:r>
            <a:r>
              <a:rPr lang="en-CA" dirty="0" err="1"/>
              <a:t>precision_score</a:t>
            </a:r>
            <a:r>
              <a:rPr lang="en-CA" dirty="0"/>
              <a:t>, </a:t>
            </a:r>
            <a:r>
              <a:rPr lang="en-CA" dirty="0" err="1"/>
              <a:t>recall_score</a:t>
            </a:r>
            <a:r>
              <a:rPr lang="en-CA" dirty="0"/>
              <a:t>, </a:t>
            </a:r>
            <a:r>
              <a:rPr lang="en-CA" dirty="0" err="1"/>
              <a:t>accuracy_score</a:t>
            </a:r>
            <a:r>
              <a:rPr lang="en-CA" dirty="0"/>
              <a:t>, f1_score</a:t>
            </a:r>
          </a:p>
          <a:p>
            <a:endParaRPr lang="en-CA" dirty="0"/>
          </a:p>
          <a:p>
            <a:endParaRPr lang="en-CA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CA" dirty="0"/>
              <a:t>List of metrics in </a:t>
            </a:r>
            <a:r>
              <a:rPr lang="en-CA" dirty="0" err="1"/>
              <a:t>sklearn</a:t>
            </a:r>
            <a:r>
              <a:rPr lang="en-CA" dirty="0"/>
              <a:t>: https://scikit-learn.org/stable/modules/model_evaluation.html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8968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4BE2-BBAA-B45F-1B8B-214CD626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226" y="1063416"/>
            <a:ext cx="8761413" cy="706964"/>
          </a:xfrm>
        </p:spPr>
        <p:txBody>
          <a:bodyPr/>
          <a:lstStyle/>
          <a:p>
            <a:r>
              <a:rPr lang="en-CA" dirty="0"/>
              <a:t>2- Identify features and class variables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9745C-F3A0-1C2B-B9B3-202270D1D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9BEDD-8E7E-7A8A-CD79-C9876B615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DE72D-6A0F-8CFA-79C0-F4F8E077BA88}"/>
              </a:ext>
            </a:extLst>
          </p:cNvPr>
          <p:cNvSpPr txBox="1"/>
          <p:nvPr/>
        </p:nvSpPr>
        <p:spPr>
          <a:xfrm>
            <a:off x="1095375" y="2788447"/>
            <a:ext cx="8610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# Split the data into features (X) and class y (malware/benign app)</a:t>
            </a:r>
          </a:p>
          <a:p>
            <a:r>
              <a:rPr lang="en-CA" dirty="0"/>
              <a:t>X = </a:t>
            </a:r>
            <a:r>
              <a:rPr lang="en-CA" dirty="0" err="1"/>
              <a:t>app_df.iloc</a:t>
            </a:r>
            <a:r>
              <a:rPr lang="en-CA" dirty="0"/>
              <a:t>[:, 8:]</a:t>
            </a:r>
          </a:p>
          <a:p>
            <a:endParaRPr lang="en-CA" dirty="0"/>
          </a:p>
          <a:p>
            <a:r>
              <a:rPr lang="en-CA" dirty="0"/>
              <a:t>y = </a:t>
            </a:r>
            <a:r>
              <a:rPr lang="en-CA" dirty="0" err="1"/>
              <a:t>app_df</a:t>
            </a:r>
            <a:r>
              <a:rPr lang="en-CA" dirty="0"/>
              <a:t>['malware']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83280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C6A5-9348-4A6F-7A40-3C3BAAA1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671" y="973668"/>
            <a:ext cx="8761413" cy="706964"/>
          </a:xfrm>
        </p:spPr>
        <p:txBody>
          <a:bodyPr/>
          <a:lstStyle/>
          <a:p>
            <a:r>
              <a:rPr lang="en-CA" dirty="0"/>
              <a:t>3- Split data to training and test set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38BAF-7A46-3884-8540-D3E15014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720CB-DEBA-3E82-A368-0F347FCD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5EA73-C1F2-8834-F920-392E4D06A738}"/>
              </a:ext>
            </a:extLst>
          </p:cNvPr>
          <p:cNvSpPr txBox="1"/>
          <p:nvPr/>
        </p:nvSpPr>
        <p:spPr>
          <a:xfrm>
            <a:off x="1480008" y="2960263"/>
            <a:ext cx="88725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# Split the data into training and testing sets</a:t>
            </a:r>
          </a:p>
          <a:p>
            <a:r>
              <a:rPr lang="en-CA" dirty="0" err="1"/>
              <a:t>X_train</a:t>
            </a:r>
            <a:r>
              <a:rPr lang="en-CA" dirty="0"/>
              <a:t>, </a:t>
            </a:r>
            <a:r>
              <a:rPr lang="en-CA" dirty="0" err="1"/>
              <a:t>X_test</a:t>
            </a:r>
            <a:r>
              <a:rPr lang="en-CA" dirty="0"/>
              <a:t>, </a:t>
            </a:r>
            <a:r>
              <a:rPr lang="en-CA" dirty="0" err="1"/>
              <a:t>y_train</a:t>
            </a:r>
            <a:r>
              <a:rPr lang="en-CA" dirty="0"/>
              <a:t>, </a:t>
            </a:r>
            <a:r>
              <a:rPr lang="en-CA" dirty="0" err="1"/>
              <a:t>y_test</a:t>
            </a:r>
            <a:r>
              <a:rPr lang="en-CA" dirty="0"/>
              <a:t> = </a:t>
            </a:r>
            <a:r>
              <a:rPr lang="en-CA" dirty="0" err="1"/>
              <a:t>train_test_split</a:t>
            </a:r>
            <a:r>
              <a:rPr lang="en-CA" dirty="0"/>
              <a:t>(X, y, </a:t>
            </a:r>
            <a:r>
              <a:rPr lang="en-CA" dirty="0" err="1"/>
              <a:t>test_size</a:t>
            </a:r>
            <a:r>
              <a:rPr lang="en-CA" dirty="0"/>
              <a:t>=0.2, </a:t>
            </a:r>
            <a:r>
              <a:rPr lang="en-CA" dirty="0" err="1"/>
              <a:t>random_state</a:t>
            </a:r>
            <a:r>
              <a:rPr lang="en-CA" dirty="0"/>
              <a:t>=42)</a:t>
            </a:r>
          </a:p>
        </p:txBody>
      </p:sp>
    </p:spTree>
    <p:extLst>
      <p:ext uri="{BB962C8B-B14F-4D97-AF65-F5344CB8AC3E}">
        <p14:creationId xmlns:p14="http://schemas.microsoft.com/office/powerpoint/2010/main" val="1481861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489E-4496-BCCF-55FB-D3638633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226" y="1154643"/>
            <a:ext cx="8761413" cy="706964"/>
          </a:xfrm>
        </p:spPr>
        <p:txBody>
          <a:bodyPr/>
          <a:lstStyle/>
          <a:p>
            <a:r>
              <a:rPr lang="en-CA" dirty="0"/>
              <a:t>4- Model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6A81D5-5804-2C4B-010D-29AD5016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F09F0-1287-372E-D409-3BB7B020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E005E-F2D0-DD1B-99C3-7D763AFDB922}"/>
              </a:ext>
            </a:extLst>
          </p:cNvPr>
          <p:cNvSpPr txBox="1"/>
          <p:nvPr/>
        </p:nvSpPr>
        <p:spPr>
          <a:xfrm>
            <a:off x="1257300" y="2574875"/>
            <a:ext cx="80105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# Create an SVM classifier object</a:t>
            </a:r>
          </a:p>
          <a:p>
            <a:r>
              <a:rPr lang="en-CA" dirty="0" err="1"/>
              <a:t>svm_classifier</a:t>
            </a:r>
            <a:r>
              <a:rPr lang="en-CA" dirty="0"/>
              <a:t> = SVC()</a:t>
            </a:r>
          </a:p>
          <a:p>
            <a:endParaRPr lang="en-CA" dirty="0"/>
          </a:p>
          <a:p>
            <a:r>
              <a:rPr lang="en-CA" dirty="0"/>
              <a:t># Train the SVM classifier</a:t>
            </a:r>
          </a:p>
          <a:p>
            <a:r>
              <a:rPr lang="en-CA" dirty="0" err="1"/>
              <a:t>svm_classifier.fit</a:t>
            </a:r>
            <a:r>
              <a:rPr lang="en-CA" dirty="0"/>
              <a:t>(</a:t>
            </a:r>
            <a:r>
              <a:rPr lang="en-CA" dirty="0" err="1"/>
              <a:t>X_train</a:t>
            </a:r>
            <a:r>
              <a:rPr lang="en-CA" dirty="0"/>
              <a:t>, </a:t>
            </a:r>
            <a:r>
              <a:rPr lang="en-CA" dirty="0" err="1"/>
              <a:t>y_train</a:t>
            </a:r>
            <a:r>
              <a:rPr lang="en-CA" dirty="0"/>
              <a:t>)</a:t>
            </a:r>
          </a:p>
          <a:p>
            <a:endParaRPr lang="en-CA" dirty="0"/>
          </a:p>
          <a:p>
            <a:r>
              <a:rPr lang="en-CA" dirty="0"/>
              <a:t># Make predictions on the test set</a:t>
            </a:r>
          </a:p>
          <a:p>
            <a:r>
              <a:rPr lang="en-CA" dirty="0" err="1"/>
              <a:t>y_pred</a:t>
            </a:r>
            <a:r>
              <a:rPr lang="en-CA" dirty="0"/>
              <a:t> = </a:t>
            </a:r>
            <a:r>
              <a:rPr lang="en-CA" dirty="0" err="1"/>
              <a:t>svm_classifier.predict</a:t>
            </a:r>
            <a:r>
              <a:rPr lang="en-CA" dirty="0"/>
              <a:t>(</a:t>
            </a:r>
            <a:r>
              <a:rPr lang="en-CA" dirty="0" err="1"/>
              <a:t>X_test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7051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4FFA-0B36-7D57-C91D-19555598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		5- Model SVM with various kernels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80CDD-1EE0-9296-FCFC-27296C4A9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BB087-94F4-70E1-C0B7-1A9858A8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E076F-AAF1-EE37-E7AF-94725D6FBB5C}"/>
              </a:ext>
            </a:extLst>
          </p:cNvPr>
          <p:cNvSpPr txBox="1"/>
          <p:nvPr/>
        </p:nvSpPr>
        <p:spPr>
          <a:xfrm>
            <a:off x="1438275" y="2409347"/>
            <a:ext cx="7924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 err="1"/>
              <a:t>svm_classifier_linear</a:t>
            </a:r>
            <a:r>
              <a:rPr lang="en-CA" dirty="0"/>
              <a:t> = SVC(kernel='linear’) # liner</a:t>
            </a:r>
          </a:p>
          <a:p>
            <a:r>
              <a:rPr lang="en-CA" dirty="0" err="1"/>
              <a:t>svm_classifier_poly</a:t>
            </a:r>
            <a:r>
              <a:rPr lang="en-CA" dirty="0"/>
              <a:t> = SVC(kernel='poly’) # polynomial</a:t>
            </a:r>
          </a:p>
          <a:p>
            <a:r>
              <a:rPr lang="en-CA" dirty="0" err="1"/>
              <a:t>svm_classifier_rbf</a:t>
            </a:r>
            <a:r>
              <a:rPr lang="en-CA" dirty="0"/>
              <a:t> = SVC(kernel='</a:t>
            </a:r>
            <a:r>
              <a:rPr lang="en-CA" dirty="0" err="1"/>
              <a:t>rbf</a:t>
            </a:r>
            <a:r>
              <a:rPr lang="en-CA" dirty="0"/>
              <a:t>’)#Radial Basis Function</a:t>
            </a:r>
          </a:p>
          <a:p>
            <a:r>
              <a:rPr lang="en-CA" dirty="0" err="1"/>
              <a:t>svm_classifier_sigmoid</a:t>
            </a:r>
            <a:r>
              <a:rPr lang="en-CA" dirty="0"/>
              <a:t> = SVC(kernel='sigmoid’)# sigmoid</a:t>
            </a:r>
          </a:p>
        </p:txBody>
      </p:sp>
    </p:spTree>
    <p:extLst>
      <p:ext uri="{BB962C8B-B14F-4D97-AF65-F5344CB8AC3E}">
        <p14:creationId xmlns:p14="http://schemas.microsoft.com/office/powerpoint/2010/main" val="2482319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2906-5733-BA97-72BA-AF4CDA4E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0226" y="880536"/>
            <a:ext cx="8761413" cy="706964"/>
          </a:xfrm>
        </p:spPr>
        <p:txBody>
          <a:bodyPr/>
          <a:lstStyle/>
          <a:p>
            <a:r>
              <a:rPr lang="en-CA" dirty="0"/>
              <a:t>5- Evaluate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EF395-B980-187F-1A20-56C6F7646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E7D78-95E9-13D5-4C3E-8262A7DD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087A1-B970-D4F0-13A9-005AFFBD62B7}"/>
              </a:ext>
            </a:extLst>
          </p:cNvPr>
          <p:cNvSpPr txBox="1"/>
          <p:nvPr/>
        </p:nvSpPr>
        <p:spPr>
          <a:xfrm>
            <a:off x="1457325" y="253832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# Evaluate the accuracy of the classifier</a:t>
            </a:r>
          </a:p>
          <a:p>
            <a:r>
              <a:rPr lang="en-CA" dirty="0"/>
              <a:t>accuracy = </a:t>
            </a:r>
            <a:r>
              <a:rPr lang="en-CA" dirty="0" err="1"/>
              <a:t>accuracy_score</a:t>
            </a:r>
            <a:r>
              <a:rPr lang="en-CA" dirty="0"/>
              <a:t>(</a:t>
            </a:r>
            <a:r>
              <a:rPr lang="en-CA" dirty="0" err="1"/>
              <a:t>y_test</a:t>
            </a:r>
            <a:r>
              <a:rPr lang="en-CA" dirty="0"/>
              <a:t>, </a:t>
            </a:r>
            <a:r>
              <a:rPr lang="en-CA" dirty="0" err="1"/>
              <a:t>y_pred</a:t>
            </a:r>
            <a:r>
              <a:rPr lang="en-CA" dirty="0"/>
              <a:t>)</a:t>
            </a:r>
          </a:p>
          <a:p>
            <a:endParaRPr lang="en-CA" dirty="0"/>
          </a:p>
          <a:p>
            <a:r>
              <a:rPr lang="en-CA" dirty="0"/>
              <a:t>print("Accuracy:", accuracy)</a:t>
            </a:r>
          </a:p>
        </p:txBody>
      </p:sp>
    </p:spTree>
    <p:extLst>
      <p:ext uri="{BB962C8B-B14F-4D97-AF65-F5344CB8AC3E}">
        <p14:creationId xmlns:p14="http://schemas.microsoft.com/office/powerpoint/2010/main" val="3499150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0082-29E5-BEF6-F102-C582AC61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B9C83-63FD-B53A-0FE9-96B452D30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EAABE-B478-33FD-B305-45E377FA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7CE36-86F0-8298-DBEC-D027FA1C9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372038"/>
            <a:ext cx="109632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45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2233B-6F3D-0519-4409-B23F5607B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SVM with kernels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CE134-72FD-70D5-C2FB-D9F0E01B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47498-ACAA-CFB8-8382-7778D5EE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FEE73A-AF80-9FA9-619E-CDB4535DB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99" y="2141007"/>
            <a:ext cx="76390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17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B0FC9D-DF1E-421F-4C19-0C1258B0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0931" y="2287088"/>
            <a:ext cx="4351023" cy="2283824"/>
          </a:xfrm>
        </p:spPr>
        <p:txBody>
          <a:bodyPr/>
          <a:lstStyle/>
          <a:p>
            <a:r>
              <a:rPr lang="en-CA" dirty="0">
                <a:solidFill>
                  <a:schemeClr val="tx1"/>
                </a:solidFill>
              </a:rPr>
              <a:t>Evaluation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ED17C-C380-8690-1001-2BAC3A6B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8654A-6162-0BA4-D1E5-0D5D7EAF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243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18170" y="529948"/>
            <a:ext cx="8425339" cy="9280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Confusion Matrix</a:t>
            </a:r>
            <a:endParaRPr lang="en-IN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328" y="1453666"/>
            <a:ext cx="8501751" cy="5355291"/>
          </a:xfrm>
        </p:spPr>
        <p:txBody>
          <a:bodyPr>
            <a:no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confusion matrix for a two classes (+, -) is shown below.</a:t>
            </a: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four quadrants in the confusion matrix, which are symbolized as below.</a:t>
            </a: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800" dirty="0">
                <a:solidFill>
                  <a:srgbClr val="0B5ED7"/>
                </a:solidFill>
                <a:latin typeface="Times New Roman" pitchFamily="18" charset="0"/>
                <a:cs typeface="Times New Roman" pitchFamily="18" charset="0"/>
              </a:rPr>
              <a:t>True Positive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(TP: f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++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: The number of instances that were positive (+) and correctly classified as positive (+).</a:t>
            </a: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800" dirty="0">
                <a:solidFill>
                  <a:srgbClr val="0B5ED7"/>
                </a:solidFill>
                <a:latin typeface="Times New Roman" pitchFamily="18" charset="0"/>
                <a:cs typeface="Times New Roman" pitchFamily="18" charset="0"/>
              </a:rPr>
              <a:t>False Negative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(FN: f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+-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): The number of instances that were positive (+) and incorrectly classified as negative (-). </a:t>
            </a: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800" dirty="0">
                <a:solidFill>
                  <a:srgbClr val="0B5ED7"/>
                </a:solidFill>
                <a:latin typeface="Times New Roman" pitchFamily="18" charset="0"/>
                <a:cs typeface="Times New Roman" pitchFamily="18" charset="0"/>
              </a:rPr>
              <a:t>False Positive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(FP: f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-+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):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number of instances that were negative (-) and incorrectly classified as (+). </a:t>
            </a:r>
          </a:p>
          <a:p>
            <a:pPr lvl="1"/>
            <a:r>
              <a:rPr lang="en-US" sz="1800" dirty="0">
                <a:solidFill>
                  <a:srgbClr val="0B5ED7"/>
                </a:solidFill>
                <a:latin typeface="Times New Roman" pitchFamily="18" charset="0"/>
                <a:cs typeface="Times New Roman" pitchFamily="18" charset="0"/>
              </a:rPr>
              <a:t>True Negative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(TN: f--): The number of instances that were negative (-) and correctly classified as (-).</a:t>
            </a:r>
          </a:p>
          <a:p>
            <a:pPr lvl="1"/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30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702" y="1720313"/>
            <a:ext cx="4410075" cy="1133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604" y="1720312"/>
            <a:ext cx="1895475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9662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605" y="761237"/>
            <a:ext cx="8425339" cy="92807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Confusion Matrix</a:t>
            </a:r>
            <a:endParaRPr lang="en-IN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658" y="2084277"/>
            <a:ext cx="9165886" cy="5651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5ED7"/>
                </a:solidFill>
                <a:latin typeface="Times New Roman" pitchFamily="18" charset="0"/>
                <a:cs typeface="Times New Roman" pitchFamily="18" charset="0"/>
              </a:rPr>
              <a:t>Note: </a:t>
            </a:r>
          </a:p>
          <a:p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i="1" baseline="-25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TP (f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++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+ FN (f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+-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393192" lvl="1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=  is the total number of positive instances.</a:t>
            </a:r>
          </a:p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FP(f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-+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+ TN(f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--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=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the total number of negative instances.</a:t>
            </a:r>
          </a:p>
          <a:p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i="1" baseline="-25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93192" lvl="1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=  is the total number of instances.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(TP + TN) denotes the number of correct classifications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(FP + FN) denotes the number of errors in classification.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a perfect classifier, FP = FN = 0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31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91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11957" y="874005"/>
            <a:ext cx="8923867" cy="684107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Confusion Matrix Example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272" y="2036868"/>
            <a:ext cx="8501751" cy="5044440"/>
          </a:xfrm>
        </p:spPr>
        <p:txBody>
          <a:bodyPr>
            <a:noAutofit/>
          </a:bodyPr>
          <a:lstStyle/>
          <a:p>
            <a:pPr lvl="8"/>
            <a:endParaRPr lang="en-US" sz="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8"/>
            <a:endParaRPr lang="en-US" sz="6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0B5ED7"/>
                </a:solidFill>
                <a:latin typeface="Times New Roman" pitchFamily="18" charset="0"/>
                <a:cs typeface="Times New Roman" pitchFamily="18" charset="0"/>
              </a:rPr>
              <a:t>For example, </a:t>
            </a:r>
          </a:p>
          <a:p>
            <a:endParaRPr lang="en-US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CC33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93192" lvl="1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Calculate the performance evaluation metrics</a:t>
            </a:r>
          </a:p>
          <a:p>
            <a:pPr lvl="1"/>
            <a:endParaRPr lang="en-US" sz="1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800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  <a:p>
            <a:pPr lvl="6"/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32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36836" y="2301300"/>
            <a:ext cx="4168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US" dirty="0">
              <a:solidFill>
                <a:srgbClr val="0B5ED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909453"/>
              </p:ext>
            </p:extLst>
          </p:nvPr>
        </p:nvGraphicFramePr>
        <p:xfrm>
          <a:off x="1600440" y="3046096"/>
          <a:ext cx="773538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malware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Benign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malware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52 (TP)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18 (FN)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Benign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21 (FP)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123 (TN)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024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035" y="889635"/>
            <a:ext cx="8425339" cy="7315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  <a:endParaRPr lang="en-IN" sz="4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07035" y="2196465"/>
                <a:ext cx="8425339" cy="4975860"/>
              </a:xfrm>
            </p:spPr>
            <p:txBody>
              <a:bodyPr/>
              <a:lstStyle/>
              <a:p>
                <a:r>
                  <a:rPr lang="en-IN" sz="2000" dirty="0">
                    <a:latin typeface="Times New Roman" pitchFamily="18" charset="0"/>
                    <a:cs typeface="Times New Roman" pitchFamily="18" charset="0"/>
                  </a:rPr>
                  <a:t>It is defined as the fraction of the number of examples that are correctly classified by the classifier to the total number of instances.</a:t>
                </a:r>
                <a:endParaRPr lang="en-US" sz="2000" i="1" dirty="0">
                  <a:latin typeface="Cambria Math"/>
                </a:endParaRPr>
              </a:p>
              <a:p>
                <a:pPr marL="0" indent="0" algn="ctr">
                  <a:buNone/>
                </a:pPr>
                <a:r>
                  <a:rPr lang="en-IN" sz="2000" dirty="0"/>
                  <a:t>Accuracy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/>
                          </a:rPr>
                          <m:t>𝑇𝑃</m:t>
                        </m:r>
                        <m:r>
                          <a:rPr lang="en-IN" sz="2000" i="1">
                            <a:latin typeface="Cambria Math"/>
                          </a:rPr>
                          <m:t>+</m:t>
                        </m:r>
                        <m:r>
                          <a:rPr lang="en-IN" sz="2000" i="1">
                            <a:latin typeface="Cambria Math"/>
                          </a:rPr>
                          <m:t>𝑇𝑁</m:t>
                        </m:r>
                      </m:num>
                      <m:den>
                        <m:r>
                          <a:rPr lang="en-IN" sz="2000" i="1">
                            <a:latin typeface="Cambria Math"/>
                          </a:rPr>
                          <m:t>𝑇𝑃</m:t>
                        </m:r>
                        <m:r>
                          <a:rPr lang="en-IN" sz="2000" i="1">
                            <a:latin typeface="Cambria Math"/>
                          </a:rPr>
                          <m:t>+</m:t>
                        </m:r>
                        <m:r>
                          <a:rPr lang="en-IN" sz="2000" i="1">
                            <a:latin typeface="Cambria Math"/>
                          </a:rPr>
                          <m:t>𝐹𝑃</m:t>
                        </m:r>
                        <m:r>
                          <a:rPr lang="en-IN" sz="2000" i="1">
                            <a:latin typeface="Cambria Math"/>
                          </a:rPr>
                          <m:t>+</m:t>
                        </m:r>
                        <m:r>
                          <a:rPr lang="en-IN" sz="2000" i="1">
                            <a:latin typeface="Cambria Math"/>
                          </a:rPr>
                          <m:t>𝐹𝑁</m:t>
                        </m:r>
                        <m:r>
                          <a:rPr lang="en-IN" sz="2000" i="1">
                            <a:latin typeface="Cambria Math"/>
                          </a:rPr>
                          <m:t>+</m:t>
                        </m:r>
                        <m:r>
                          <a:rPr lang="en-IN" sz="2000" i="1">
                            <a:latin typeface="Cambria Math"/>
                          </a:rPr>
                          <m:t>𝑇𝑁</m:t>
                        </m:r>
                      </m:den>
                    </m:f>
                  </m:oMath>
                </a14:m>
                <a:endParaRPr lang="en-US" sz="2000" i="1" dirty="0">
                  <a:latin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7035" y="2196465"/>
                <a:ext cx="8425339" cy="4975860"/>
              </a:xfrm>
              <a:blipFill>
                <a:blip r:embed="rId2"/>
                <a:stretch>
                  <a:fillRect l="-289" t="-61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33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261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48876" y="783379"/>
            <a:ext cx="8425339" cy="590973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Performance Evaluation Metrics</a:t>
            </a: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2502" y="1922601"/>
                <a:ext cx="8425339" cy="488103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en-I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Precision 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(How precise are we in our detection?) (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Efficiency</a:t>
                </a:r>
                <a:r>
                  <a:rPr lang="en-US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/>
                        </a:rPr>
                        <m:t>𝑃𝑟𝑒𝑐𝑖𝑠𝑖𝑜𝑛</m:t>
                      </m:r>
                      <m:r>
                        <a:rPr lang="en-IN" sz="20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/>
                            </a:rPr>
                            <m:t>𝑇𝑃</m:t>
                          </m:r>
                        </m:num>
                        <m:den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𝐸𝑠𝑡𝑖𝑚𝑎𝑡𝑒𝑑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den>
                      </m:f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/>
                            </a:rPr>
                            <m:t>𝑇𝑃</m:t>
                          </m:r>
                        </m:num>
                        <m:den>
                          <m:r>
                            <a:rPr lang="en-IN" sz="2000" i="1">
                              <a:latin typeface="Cambria Math"/>
                            </a:rPr>
                            <m:t>𝑇𝑃</m:t>
                          </m:r>
                          <m:r>
                            <a:rPr lang="en-IN" sz="2000" i="1">
                              <a:latin typeface="Cambria Math"/>
                            </a:rPr>
                            <m:t>+</m:t>
                          </m:r>
                          <m:r>
                            <a:rPr lang="en-IN" sz="2000" i="1">
                              <a:latin typeface="Cambria Math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Recall </a:t>
                </a:r>
                <a:r>
                  <a:rPr lang="en-IN" sz="2000" dirty="0">
                    <a:latin typeface="Times New Roman" pitchFamily="18" charset="0"/>
                    <a:cs typeface="Times New Roman" pitchFamily="18" charset="0"/>
                  </a:rPr>
                  <a:t>(How good we are at detecting) (</a:t>
                </a:r>
                <a:r>
                  <a:rPr lang="en-IN" sz="2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Coverage</a:t>
                </a:r>
                <a:r>
                  <a:rPr lang="en-IN" sz="20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latin typeface="Cambria Math"/>
                        </a:rPr>
                        <m:t>𝑅𝑒𝑐𝑎𝑙𝑙</m:t>
                      </m:r>
                      <m:r>
                        <a:rPr lang="en-IN" sz="20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/>
                            </a:rPr>
                            <m:t>𝑇𝑃</m:t>
                          </m:r>
                        </m:num>
                        <m:den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𝐴𝑐𝑡𝑢𝑎𝑙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den>
                      </m:f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latin typeface="Cambria Math"/>
                            </a:rPr>
                            <m:t>𝑇𝑃</m:t>
                          </m:r>
                        </m:num>
                        <m:den>
                          <m:r>
                            <a:rPr lang="en-IN" sz="2000" i="1">
                              <a:latin typeface="Cambria Math"/>
                            </a:rPr>
                            <m:t>𝑇𝑃</m:t>
                          </m:r>
                          <m:r>
                            <a:rPr lang="en-IN" sz="2000" i="1">
                              <a:latin typeface="Cambria Math"/>
                            </a:rPr>
                            <m:t>+</m:t>
                          </m:r>
                          <m:r>
                            <a:rPr lang="en-IN" sz="2000" i="1">
                              <a:latin typeface="Cambria Math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CA" sz="2000" dirty="0">
                  <a:latin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>
                    <a:latin typeface="Times New Roman" pitchFamily="18" charset="0"/>
                    <a:cs typeface="Times New Roman" pitchFamily="18" charset="0"/>
                  </a:rPr>
                  <a:t>Not always being good at Precision mean it is good at Recall. For example, in the following confusion matrix:</a:t>
                </a:r>
              </a:p>
              <a:p>
                <a:pPr marL="457200" lvl="1" indent="0">
                  <a:buNone/>
                </a:pPr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It happen when the model is bias and detect most of the data in one class</a:t>
                </a:r>
              </a:p>
              <a:p>
                <a:endParaRPr lang="en-I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:endParaRPr lang="en-IN" sz="2000" dirty="0"/>
              </a:p>
              <a:p>
                <a:pPr marL="0" indent="0" algn="ctr">
                  <a:buNone/>
                </a:pPr>
                <a:endParaRPr lang="en-IN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2502" y="1922601"/>
                <a:ext cx="8425339" cy="4881034"/>
              </a:xfrm>
              <a:blipFill>
                <a:blip r:embed="rId2"/>
                <a:stretch>
                  <a:fillRect l="-7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34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087B8F90-1EE5-78B2-9A1C-0A15FAF6B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219256"/>
              </p:ext>
            </p:extLst>
          </p:nvPr>
        </p:nvGraphicFramePr>
        <p:xfrm>
          <a:off x="8819258" y="5172635"/>
          <a:ext cx="267201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672">
                  <a:extLst>
                    <a:ext uri="{9D8B030D-6E8A-4147-A177-3AD203B41FA5}">
                      <a16:colId xmlns:a16="http://schemas.microsoft.com/office/drawing/2014/main" val="3001824840"/>
                    </a:ext>
                  </a:extLst>
                </a:gridCol>
                <a:gridCol w="890672">
                  <a:extLst>
                    <a:ext uri="{9D8B030D-6E8A-4147-A177-3AD203B41FA5}">
                      <a16:colId xmlns:a16="http://schemas.microsoft.com/office/drawing/2014/main" val="3005349121"/>
                    </a:ext>
                  </a:extLst>
                </a:gridCol>
                <a:gridCol w="890672">
                  <a:extLst>
                    <a:ext uri="{9D8B030D-6E8A-4147-A177-3AD203B41FA5}">
                      <a16:colId xmlns:a16="http://schemas.microsoft.com/office/drawing/2014/main" val="1682309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malware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Benign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82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Malware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10 (TP)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8(FN)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476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Benign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3 (FP)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10 (TN)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99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496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91410" y="767929"/>
            <a:ext cx="8425339" cy="590973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Performance Evaluation Metrics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238DB-7230-45D0-89A2-1890D4DEDBDF}" type="slidenum">
              <a:rPr lang="en-IN" smtClean="0">
                <a:solidFill>
                  <a:srgbClr val="04617B">
                    <a:shade val="90000"/>
                  </a:srgbClr>
                </a:solidFill>
              </a:rPr>
              <a:pPr/>
              <a:t>35</a:t>
            </a:fld>
            <a:endParaRPr lang="en-IN" dirty="0">
              <a:solidFill>
                <a:srgbClr val="04617B">
                  <a:shade val="90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/>
              <p:cNvSpPr txBox="1">
                <a:spLocks/>
              </p:cNvSpPr>
              <p:nvPr/>
            </p:nvSpPr>
            <p:spPr>
              <a:xfrm>
                <a:off x="1150829" y="2093789"/>
                <a:ext cx="8506500" cy="5401734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SzPct val="9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46888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46888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/>
                  <a:buChar char="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88720" indent="-210312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SzPct val="6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63040" indent="-210312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SzPct val="6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210312" algn="l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SzPct val="80000"/>
                  <a:buFont typeface="Wingdings 2"/>
                  <a:buChar char="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rtl="0" eaLnBrk="1" latinLnBrk="0" hangingPunct="1">
                  <a:spcBef>
                    <a:spcPct val="20000"/>
                  </a:spcBef>
                  <a:buClr>
                    <a:schemeClr val="accent6"/>
                  </a:buClr>
                  <a:buSzPct val="80000"/>
                  <a:buFont typeface="Wingdings 2"/>
                  <a:buChar char="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18288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Char char="•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18288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Tx/>
                  <a:buChar char="•"/>
                  <a:defRPr kumimoji="0"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8">
                  <a:buClr>
                    <a:srgbClr val="0BD0D9"/>
                  </a:buClr>
                </a:pPr>
                <a:endParaRPr lang="en-US" sz="1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Clr>
                    <a:srgbClr val="0BD0D9"/>
                  </a:buClr>
                </a:pPr>
                <a:r>
                  <a:rPr lang="en-US" sz="2400" b="1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sz="2400" b="1" baseline="-25000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400" b="1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 Score </a:t>
                </a:r>
                <a:r>
                  <a:rPr lang="en-US" sz="2400" b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sz="2400" b="1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sz="2400" b="1" baseline="-25000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400" b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):  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Recall (</a:t>
                </a:r>
                <a:r>
                  <a:rPr lang="en-US" sz="2400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) and Precision (</a:t>
                </a:r>
                <a:r>
                  <a:rPr lang="en-US" sz="2400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sz="24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)  are two widely used metrics employed in analysis..</a:t>
                </a:r>
              </a:p>
              <a:p>
                <a:pPr lvl="8">
                  <a:buClr>
                    <a:srgbClr val="0BD0D9"/>
                  </a:buClr>
                </a:pPr>
                <a:endParaRPr lang="en-US" sz="11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1">
                  <a:buClr>
                    <a:srgbClr val="0BD0D9"/>
                  </a:buClr>
                </a:pPr>
                <a:r>
                  <a:rPr lang="en-US" sz="2000" b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It is defined in terms of  (</a:t>
                </a:r>
                <a:r>
                  <a:rPr lang="en-US" sz="2000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or Recall) and (</a:t>
                </a:r>
                <a:r>
                  <a:rPr lang="en-US" sz="2000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sz="2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or Precision) as follows.   </a:t>
                </a:r>
              </a:p>
              <a:p>
                <a:pPr lvl="8">
                  <a:buClr>
                    <a:srgbClr val="0BD0D9"/>
                  </a:buClr>
                </a:pPr>
                <a:endParaRPr lang="en-US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Clr>
                    <a:srgbClr val="0BD0D9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IN" sz="18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  <m:r>
                            <a:rPr lang="en-US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.</m:t>
                          </m:r>
                          <m:r>
                            <a:rPr lang="en-US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</m:den>
                      </m:f>
                      <m:r>
                        <a:rPr lang="en-IN" sz="18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IN" sz="1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𝑇𝑃</m:t>
                          </m:r>
                        </m:num>
                        <m:den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𝑇𝑃</m:t>
                          </m:r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𝐹𝑃</m:t>
                          </m:r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IN" sz="18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Clr>
                    <a:srgbClr val="0BD0D9"/>
                  </a:buClr>
                  <a:buNone/>
                </a:pPr>
                <a:r>
                  <a:rPr lang="en-US" sz="2000" b="1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Note</a:t>
                </a:r>
              </a:p>
              <a:p>
                <a:pPr lvl="8">
                  <a:buClr>
                    <a:srgbClr val="0BD0D9"/>
                  </a:buClr>
                </a:pPr>
                <a:endParaRPr lang="en-US" sz="4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1">
                  <a:buClr>
                    <a:srgbClr val="0BD0D9"/>
                  </a:buClr>
                </a:pPr>
                <a:r>
                  <a:rPr lang="en-US" sz="2000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F</a:t>
                </a:r>
                <a:r>
                  <a:rPr lang="en-US" sz="2000" baseline="-25000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solidFill>
                      <a:srgbClr val="0B5ED7"/>
                    </a:solidFill>
                    <a:latin typeface="Times New Roman" pitchFamily="18" charset="0"/>
                    <a:cs typeface="Times New Roman" pitchFamily="18" charset="0"/>
                  </a:rPr>
                  <a:t> represents the harmonic mean between recall and precision</a:t>
                </a:r>
              </a:p>
              <a:p>
                <a:pPr lvl="8">
                  <a:buClr>
                    <a:srgbClr val="0BD0D9"/>
                  </a:buClr>
                </a:pPr>
                <a:endParaRPr lang="en-US" dirty="0">
                  <a:solidFill>
                    <a:srgbClr val="0B5ED7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1">
                  <a:buClr>
                    <a:srgbClr val="0BD0D9"/>
                  </a:buClr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High value of F</a:t>
                </a:r>
                <a:r>
                  <a:rPr lang="en-US" sz="2000" baseline="-25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score ensures that both Precision and Recall are reasonably high.</a:t>
                </a:r>
                <a:endParaRPr lang="en-IN" sz="2000" dirty="0">
                  <a:solidFill>
                    <a:srgbClr val="0B5ED7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29" y="2093789"/>
                <a:ext cx="8506500" cy="5401734"/>
              </a:xfrm>
              <a:prstGeom prst="rect">
                <a:avLst/>
              </a:prstGeom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093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18E6-76BA-2F98-61ED-8368BF91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CF621C-A271-4847-3C78-9DA73A729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700" y="3152370"/>
            <a:ext cx="8761413" cy="231856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CFD1E-A6FC-B414-A001-2A084C31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843E55-F83A-4054-43F8-9032C635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154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A270D3-1229-72AD-7D66-72D30138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206" y="2726389"/>
            <a:ext cx="4351023" cy="2283824"/>
          </a:xfrm>
        </p:spPr>
        <p:txBody>
          <a:bodyPr/>
          <a:lstStyle/>
          <a:p>
            <a:r>
              <a:rPr lang="en-CA" dirty="0">
                <a:solidFill>
                  <a:schemeClr val="tx1"/>
                </a:solidFill>
              </a:rPr>
              <a:t>k-Fold cross validation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B0CD6-927B-990D-36C5-5F8F79AA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FF104-8F1B-5419-5188-BD354359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197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CB861C-16C9-77DC-4C81-13A5C37F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10-fold cross validation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A88F8-8E22-E557-85D9-C56BABC3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C14505-5A16-CE7C-461E-CB4C72692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04" y="1889445"/>
            <a:ext cx="8539163" cy="484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459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7B31EE-CBE1-9E34-9DAE-F7256D35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10 fold cross validation with </a:t>
            </a:r>
            <a:r>
              <a:rPr lang="en-CA" dirty="0" err="1"/>
              <a:t>sklearn</a:t>
            </a:r>
            <a:endParaRPr lang="en-C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74C5B7-6FA4-7BD0-1A85-9113A2937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from </a:t>
            </a:r>
            <a:r>
              <a:rPr lang="en-CA" dirty="0" err="1"/>
              <a:t>sklearn.model_selection</a:t>
            </a:r>
            <a:r>
              <a:rPr lang="en-CA" dirty="0"/>
              <a:t> import </a:t>
            </a:r>
            <a:r>
              <a:rPr lang="en-CA" dirty="0" err="1"/>
              <a:t>cross_val_score</a:t>
            </a:r>
            <a:r>
              <a:rPr lang="en-CA" dirty="0"/>
              <a:t>, </a:t>
            </a:r>
            <a:r>
              <a:rPr lang="en-CA" dirty="0" err="1"/>
              <a:t>train_test_split</a:t>
            </a:r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# Perform 10-fold cross-validation</a:t>
            </a:r>
          </a:p>
          <a:p>
            <a:pPr marL="0" indent="0">
              <a:buNone/>
            </a:pPr>
            <a:r>
              <a:rPr lang="en-CA" dirty="0"/>
              <a:t>scores = </a:t>
            </a:r>
            <a:r>
              <a:rPr lang="en-CA" dirty="0" err="1"/>
              <a:t>cross_val_score</a:t>
            </a:r>
            <a:r>
              <a:rPr lang="en-CA" dirty="0"/>
              <a:t>(</a:t>
            </a:r>
            <a:r>
              <a:rPr lang="en-CA" dirty="0" err="1"/>
              <a:t>svm_classifier</a:t>
            </a:r>
            <a:r>
              <a:rPr lang="en-CA" dirty="0"/>
              <a:t>, X, y, cv=10)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# Print the accuracy scores for each fold</a:t>
            </a:r>
          </a:p>
          <a:p>
            <a:pPr marL="0" indent="0">
              <a:buNone/>
            </a:pPr>
            <a:r>
              <a:rPr lang="en-CA" dirty="0"/>
              <a:t>print("Accuracy scores for each fold:", scores)</a:t>
            </a:r>
          </a:p>
          <a:p>
            <a:r>
              <a:rPr lang="en-CA" dirty="0"/>
              <a:t>print("Mean accuracy:", </a:t>
            </a:r>
            <a:r>
              <a:rPr lang="en-CA" dirty="0" err="1"/>
              <a:t>np.mean</a:t>
            </a:r>
            <a:r>
              <a:rPr lang="en-CA" dirty="0"/>
              <a:t>(scores))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FCAC9-F882-3E49-AB17-35757006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2BE00-D3D0-CB65-65B6-891C124E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200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78AD-F48B-4A6C-B9EB-59D53651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8F8C6-8183-7469-40C2-5B373E4DF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3CAAF-260D-1471-C4D3-A564CB61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B62DB-3C32-680A-FCC3-BBDB42B9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EE984-0B6D-F15B-FBEE-B76415D0D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0" y="2474382"/>
            <a:ext cx="105918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78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15751</TotalTime>
  <Words>2184</Words>
  <Application>Microsoft Office PowerPoint</Application>
  <PresentationFormat>Widescreen</PresentationFormat>
  <Paragraphs>419</Paragraphs>
  <Slides>40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Cambria Math</vt:lpstr>
      <vt:lpstr>Century Gothic</vt:lpstr>
      <vt:lpstr>Palatino</vt:lpstr>
      <vt:lpstr>Symbol</vt:lpstr>
      <vt:lpstr>Times</vt:lpstr>
      <vt:lpstr>Times New Roman</vt:lpstr>
      <vt:lpstr>Wingdings</vt:lpstr>
      <vt:lpstr>Wingdings 3</vt:lpstr>
      <vt:lpstr>Ion Boardroom</vt:lpstr>
      <vt:lpstr>What if Data Are Not Perfectly Linearly Separable?</vt:lpstr>
      <vt:lpstr>What if Surface is Non-Linear?</vt:lpstr>
      <vt:lpstr>Kernel Methods</vt:lpstr>
      <vt:lpstr>When Linear Separators Fail</vt:lpstr>
      <vt:lpstr>Mapping into a New Feature Space</vt:lpstr>
      <vt:lpstr>Kernels</vt:lpstr>
      <vt:lpstr>The Polynomial Kernel</vt:lpstr>
      <vt:lpstr>Kernels</vt:lpstr>
      <vt:lpstr>A Few Good Kernels</vt:lpstr>
      <vt:lpstr>Overfitting</vt:lpstr>
      <vt:lpstr>Overtraining/overfitting</vt:lpstr>
      <vt:lpstr>Overtraining/overfitting 2</vt:lpstr>
      <vt:lpstr>Training a SVM Model</vt:lpstr>
      <vt:lpstr>Features</vt:lpstr>
      <vt:lpstr>Class</vt:lpstr>
      <vt:lpstr>Clean the data</vt:lpstr>
      <vt:lpstr>Split the data</vt:lpstr>
      <vt:lpstr>PowerPoint Presentation</vt:lpstr>
      <vt:lpstr>Steps for modeling</vt:lpstr>
      <vt:lpstr>SVM with Python</vt:lpstr>
      <vt:lpstr>1- Import necessary libraries</vt:lpstr>
      <vt:lpstr>2- Identify features and class variables</vt:lpstr>
      <vt:lpstr>3- Split data to training and test set</vt:lpstr>
      <vt:lpstr>4- Model</vt:lpstr>
      <vt:lpstr>  5- Model SVM with various kernels</vt:lpstr>
      <vt:lpstr>5- Evaluate</vt:lpstr>
      <vt:lpstr>PowerPoint Presentation</vt:lpstr>
      <vt:lpstr>SVM with kernels</vt:lpstr>
      <vt:lpstr>Evaluation</vt:lpstr>
      <vt:lpstr>Confusion Matrix</vt:lpstr>
      <vt:lpstr>Confusion Matrix</vt:lpstr>
      <vt:lpstr>Confusion Matrix Example</vt:lpstr>
      <vt:lpstr>Accuracy</vt:lpstr>
      <vt:lpstr>Performance Evaluation Metrics</vt:lpstr>
      <vt:lpstr>Performance Evaluation Metrics</vt:lpstr>
      <vt:lpstr>PowerPoint Presentation</vt:lpstr>
      <vt:lpstr>k-Fold cross validation</vt:lpstr>
      <vt:lpstr>What is 10-fold cross validation</vt:lpstr>
      <vt:lpstr>10 fold cross validation with sklearn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</dc:title>
  <dc:subject/>
  <dc:creator>Kobra Khanmohammadi</dc:creator>
  <cp:lastModifiedBy>Farah Hussein</cp:lastModifiedBy>
  <cp:revision>19</cp:revision>
  <dcterms:created xsi:type="dcterms:W3CDTF">2023-05-23T15:32:09Z</dcterms:created>
  <dcterms:modified xsi:type="dcterms:W3CDTF">2025-06-03T15:58:19Z</dcterms:modified>
</cp:coreProperties>
</file>